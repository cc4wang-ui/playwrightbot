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E23EB9-FDB9-4F10-A8E8-D0ABE615E70E}">
  <a:tblStyle styleId="{BAE23EB9-FDB9-4F10-A8E8-D0ABE615E7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4f9a8de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4f9a8de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4f9a8de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4f9a8de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4f9a8dea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4f9a8dea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13bd02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13bd02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d800b3a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d800b3a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c84cad39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c84cad39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 </a:t>
            </a:r>
            <a:r>
              <a:rPr lang="en"/>
              <a:t>多個團隊想從 Diamond 會員的直播或是活動參加者的質化意見中，摘要出重要意見 （例如抱怨、需求、或想離開/回歸平台等資訊）。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也想每日從 AI Baby 直播間的資訊、開播品質評分、話題摘要出有問題的留言或使用者，並應用於 Liver 日報。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 </a:t>
            </a:r>
            <a:r>
              <a:rPr lang="en"/>
              <a:t>這部分先優化 VDS 即可，可與 Mentor 討論後續導入 AI 自動化流程的需求。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c84cad39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c84cad39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 </a:t>
            </a:r>
            <a:r>
              <a:rPr lang="en"/>
              <a:t>Design Team 希望針對 AIGC Hub 製作一個較易使用的內部產品，方便測試新增的參數 並讓內部同仁透過相同的流程，自動產出具有一定品質的 AI 生成物。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 </a:t>
            </a:r>
            <a:r>
              <a:rPr lang="en"/>
              <a:t>可以透過 n8n 的自動化工具去評估每一次生成的品質好與壞。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c84cad39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c84cad39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 </a:t>
            </a:r>
            <a:r>
              <a:rPr lang="en"/>
              <a:t>Liver Team 每日從 BD system 下載報表製作日報再寄出，但目前 BigQuery 未能提供相似報表，導致無法自動化。 另，需從多個檔案中花大量時間製作財務資料並檢查確認特殊主播個案。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 </a:t>
            </a:r>
            <a:r>
              <a:rPr lang="en"/>
              <a:t>可定期讓自動化工具去抓報表，並透過 AI 完成分析，傳到 Slack 進行人工審核，最後用 gmail 發送出去。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d800b3ac6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d800b3ac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c84cad39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c84cad39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 </a:t>
            </a:r>
            <a:r>
              <a:rPr lang="en"/>
              <a:t>Translation Team 的翻譯文件中有許多專有名詞與固定用語，希望 AI 能參考過去的文件與 glossary 協助後續的翻譯工作。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 </a:t>
            </a:r>
            <a:r>
              <a:rPr lang="en"/>
              <a:t>使用 </a:t>
            </a:r>
            <a:r>
              <a:rPr b="1" lang="en"/>
              <a:t>NotebookLM</a:t>
            </a:r>
            <a:r>
              <a:rPr lang="en"/>
              <a:t> 即可，可與 Mentor 討論後續導入 AI 自動化流程的需求。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c84cad39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c84cad39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 </a:t>
            </a:r>
            <a:r>
              <a:rPr lang="en"/>
              <a:t>Translation Team 希望把公司的所有文字內容利用 AI 歸檔整理，運用在往後所有的翻譯或文件需求上 （尤其是符合商業場景的內容）。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Source-Grounded AI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只根據你上傳的文件回答，降低 hallucination 風險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Smart Summarization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自動產生摘要、重點整理、FAQ、Study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Multi-Document Analysis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可同時分析多份文件，做交叉比對與整合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Audio Overview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可將內容轉成 Podcast 形式，方便用聽的學習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Easy to Use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無需複雜 Prompt，上傳文件即可開始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d800b3ac6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d800b3ac6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04b9f4fd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e04b9f4fd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3de3be7f840cfa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3de3be7f840cf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</a:t>
            </a:r>
            <a:r>
              <a:rPr lang="en"/>
              <a:t> HR Team 希望要簡化組織圖更新、團建與補助費用申請等流程。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Mikai Team 則是每月花大量時間手動對帳，希望能夠導入自動化流程。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Team 希望可以透過自動化流程減少日常瑣碎的法律事務。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Accounting/Finance Team 希望將每個月固定要抓的帳單資料自動提供給對應的同事，減少人工抓取整理的時間。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</a:t>
            </a:r>
            <a:r>
              <a:rPr lang="en"/>
              <a:t> 財務與法務部分建議考慮重新規劃內部流程來搭配 AI 自動化工具，例如哪些節點需要人工審核。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Risk:</a:t>
            </a:r>
            <a:r>
              <a:rPr lang="en"/>
              <a:t> 財務與法務的權責問題較大，若是 AI 出錯但沒被察覺會造成很大的影響，建議不要完全導入 AI 全自動化。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c84cad39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c84cad39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Q:</a:t>
            </a:r>
            <a:r>
              <a:rPr lang="en"/>
              <a:t> Revenue Team 希望透過自動化流程減少派獎時的人為錯誤。 目前是將派獎名單整理成 Bot 格式後，再人工一筆一筆貼入 Bot 進行派獎。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</a:t>
            </a:r>
            <a:r>
              <a:rPr lang="en"/>
              <a:t> 派獎部分建議考慮重新規劃內部流程來搭配 AI 自動化工具，例如撈取或審核名單、以及生成指令、批次派獎等。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Risk:</a:t>
            </a:r>
            <a:r>
              <a:rPr lang="en"/>
              <a:t> 由於牽涉到金流的權責問題較大，若是 AI 出錯但沒被察覺會造成很大的影響，建議不要全面導入 AI 全自動化。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d846922a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d846922a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d846922a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d846922a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d846922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d846922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e04b9f4fd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e04b9f4fd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e04b9f4f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e04b9f4f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d846922a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d846922a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ee80a49a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ee80a49a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e04b9f4fd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e04b9f4fd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-9600"/>
            <a:ext cx="9220800" cy="5162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7" y="0"/>
            <a:ext cx="519903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5875550" y="2131950"/>
            <a:ext cx="29757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5875550" y="4257375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875550" y="4561875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3" type="body"/>
          </p:nvPr>
        </p:nvSpPr>
        <p:spPr>
          <a:xfrm>
            <a:off x="5875550" y="4839000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913" y="367110"/>
            <a:ext cx="1019950" cy="6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64600" y="0"/>
            <a:ext cx="3015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4600" y="2685606"/>
            <a:ext cx="2440551" cy="24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1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" name="Google Shape;42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5875550" y="4257375"/>
            <a:ext cx="272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2021.09.10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 &amp; marketing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17LIVE Japan inc.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5875550" y="2131950"/>
            <a:ext cx="30147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abcdefghijklmnopqrstuvwxyz</a:t>
            </a:r>
            <a:endParaRPr b="1" sz="2100">
              <a:solidFill>
                <a:schemeClr val="lt1"/>
              </a:solidFill>
            </a:endParaRPr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45950" y="357550"/>
            <a:ext cx="1019950" cy="6561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gif"/><Relationship Id="rId5" Type="http://schemas.openxmlformats.org/officeDocument/2006/relationships/image" Target="../media/image8.gif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571250" y="2131950"/>
            <a:ext cx="3463800" cy="17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CTO Prize Workshop #2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お悩み診断</a:t>
            </a:r>
            <a:endParaRPr sz="2100"/>
          </a:p>
        </p:txBody>
      </p:sp>
      <p:sp>
        <p:nvSpPr>
          <p:cNvPr id="57" name="Google Shape;57;p11"/>
          <p:cNvSpPr txBox="1"/>
          <p:nvPr/>
        </p:nvSpPr>
        <p:spPr>
          <a:xfrm>
            <a:off x="5677825" y="4257375"/>
            <a:ext cx="27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2026.03.12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2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675"/>
            <a:ext cx="9144003" cy="514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9136" y="2345125"/>
            <a:ext cx="1159906" cy="251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500" y="2345125"/>
            <a:ext cx="1238188" cy="26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1270" y="2833104"/>
            <a:ext cx="1763959" cy="170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5773" y="3028150"/>
            <a:ext cx="1606251" cy="1705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3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675"/>
            <a:ext cx="9144003" cy="514215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938025" y="585700"/>
            <a:ext cx="7691700" cy="3740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</a:rPr>
              <a:t>本セッションでは英語と日本語のスライドをご用意しています。Zoom画面上部の共有画面を切り替えることで、ご希望の言語を選択してご視聴いただけます。</a:t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Both English and Japanese slides are being presented simultaneously. </a:t>
            </a: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Please select your preferred language version by using the menu at the top of your Zoom window and selecting the corresponding shared screen.</a:t>
            </a:r>
            <a:endParaRPr b="1" sz="1100">
              <a:solidFill>
                <a:srgbClr val="434343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</a:rPr>
              <a:t>本會議同時提供英文與日文版簡報，請在 Zoom 視窗的最上方切換畫面，選擇您想</a:t>
            </a: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</a:rPr>
              <a:t>觀看</a:t>
            </a: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</a:rPr>
              <a:t>的語言版本。</a:t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</p:txBody>
      </p:sp>
      <p:pic>
        <p:nvPicPr>
          <p:cNvPr id="73" name="Google Shape;73;p13" title="switching_shared_screens.gif"/>
          <p:cNvPicPr preferRelativeResize="0"/>
          <p:nvPr/>
        </p:nvPicPr>
        <p:blipFill rotWithShape="1">
          <a:blip r:embed="rId4">
            <a:alphaModFix/>
          </a:blip>
          <a:srcRect b="35501" l="0" r="0" t="0"/>
          <a:stretch/>
        </p:blipFill>
        <p:spPr>
          <a:xfrm>
            <a:off x="4084800" y="2286000"/>
            <a:ext cx="4544924" cy="24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675"/>
            <a:ext cx="9144003" cy="514215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938025" y="585700"/>
            <a:ext cx="7691700" cy="3740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</a:rPr>
              <a:t>ご質問はQ&amp;A機能をご利用のうえ、メンターが迅速に回答できるよう英語での投稿をお願いします。Geminiなどのツールで英語に翻訳してから投稿することをお勧めしますが、英語の後に日本語の原文を併記いただいても構いません。</a:t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Please use the Q&amp;A box to submit your questions in English so our mentors can address them quickly. We highly recommend using Gemini for translation </a:t>
            </a: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and feel free to include your original text following the English version</a:t>
            </a: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1" sz="1100">
              <a:solidFill>
                <a:srgbClr val="434343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  <a:highlight>
                  <a:schemeClr val="lt1"/>
                </a:highlight>
              </a:rPr>
              <a:t>若有任何疑問，請使用 Q&amp;A 功能並統一以英文提問，方便主講人快速理解與回覆。建議可先利用 Gemini 將問題翻譯成英文，並歡迎在英文後方附上您的問題原文。</a:t>
            </a:r>
            <a:endParaRPr b="1" sz="1100">
              <a:solidFill>
                <a:srgbClr val="43434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535800" y="1456150"/>
            <a:ext cx="83448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en" sz="1800">
                <a:solidFill>
                  <a:schemeClr val="dk2"/>
                </a:solidFill>
              </a:rPr>
              <a:t>お悩み診断 - Sunny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eriod"/>
            </a:pPr>
            <a:r>
              <a:rPr b="1" lang="en" sz="1800">
                <a:solidFill>
                  <a:schemeClr val="dk2"/>
                </a:solidFill>
              </a:rPr>
              <a:t>n8nで効率化できる事例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eriod"/>
            </a:pPr>
            <a:r>
              <a:rPr b="1" lang="en" sz="1800">
                <a:solidFill>
                  <a:schemeClr val="dk2"/>
                </a:solidFill>
              </a:rPr>
              <a:t>n8nなしでもAIで解決する事例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eriod"/>
            </a:pPr>
            <a:r>
              <a:rPr b="1" lang="en" sz="1800">
                <a:solidFill>
                  <a:schemeClr val="dk2"/>
                </a:solidFill>
              </a:rPr>
              <a:t>手動と自動を組み合わせた運用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eriod"/>
            </a:pPr>
            <a:r>
              <a:rPr b="1" lang="en" sz="1800">
                <a:solidFill>
                  <a:schemeClr val="dk2"/>
                </a:solidFill>
              </a:rPr>
              <a:t>Q&amp;A</a:t>
            </a:r>
            <a:endParaRPr b="1" sz="18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en" sz="1800">
                <a:solidFill>
                  <a:schemeClr val="dk2"/>
                </a:solidFill>
              </a:rPr>
              <a:t>CTO Prize Hackathon最新情報 - Jessie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6" name="Google Shape;86;p15"/>
          <p:cNvSpPr txBox="1"/>
          <p:nvPr>
            <p:ph idx="2" type="subTitle"/>
          </p:nvPr>
        </p:nvSpPr>
        <p:spPr>
          <a:xfrm>
            <a:off x="535800" y="618475"/>
            <a:ext cx="76845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Agenda</a:t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3901050" y="2287050"/>
            <a:ext cx="49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n8nで効率化できる事例</a:t>
            </a:r>
            <a:endParaRPr b="1" sz="3000">
              <a:solidFill>
                <a:srgbClr val="34354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513" y="2571750"/>
            <a:ext cx="3911187" cy="24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6175" y="1756475"/>
            <a:ext cx="2822500" cy="32945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96750" y="668334"/>
            <a:ext cx="810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</a:t>
            </a:r>
            <a:r>
              <a:rPr lang="en" sz="1200">
                <a:solidFill>
                  <a:schemeClr val="dk2"/>
                </a:solidFill>
              </a:rPr>
              <a:t> ダイアモンドライバーの配信やイベント参加者の定性的フィードバックから、重要な意見（不満、要望、離脱など）を抽出したい。また、AI Baby配信のデータや配信品質、トピックから問題のあるコメントやユーザーを毎日特定し、ライバー日報に活用したい。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r>
              <a:rPr lang="en" sz="1200">
                <a:solidFill>
                  <a:schemeClr val="dk2"/>
                </a:solidFill>
              </a:rPr>
              <a:t>現段階では、VDSの最適化による解決が最適解となります。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AI自動化フローへの導入については、後ほどメンターと詳細を相談可能です。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0" y="0"/>
            <a:ext cx="79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n8nで効率化できる事例：n8nに最適なワークフロー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1039275" y="2041045"/>
            <a:ext cx="958800" cy="3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シナリオ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2805125" y="2036245"/>
            <a:ext cx="1530300" cy="3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AIで</a:t>
            </a:r>
            <a:r>
              <a:rPr lang="en"/>
              <a:t>生成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5230425" y="2017495"/>
            <a:ext cx="2400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AIで評価</a:t>
            </a:r>
            <a:endParaRPr/>
          </a:p>
        </p:txBody>
      </p:sp>
      <p:cxnSp>
        <p:nvCxnSpPr>
          <p:cNvPr id="108" name="Google Shape;108;p18"/>
          <p:cNvCxnSpPr>
            <a:stCxn id="105" idx="3"/>
            <a:endCxn id="106" idx="1"/>
          </p:cNvCxnSpPr>
          <p:nvPr/>
        </p:nvCxnSpPr>
        <p:spPr>
          <a:xfrm flipH="1" rot="10800000">
            <a:off x="1998075" y="2217595"/>
            <a:ext cx="8070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>
            <a:stCxn id="106" idx="3"/>
            <a:endCxn id="107" idx="1"/>
          </p:cNvCxnSpPr>
          <p:nvPr/>
        </p:nvCxnSpPr>
        <p:spPr>
          <a:xfrm>
            <a:off x="4335425" y="2217595"/>
            <a:ext cx="89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838" y="2571750"/>
            <a:ext cx="6192015" cy="248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284700" y="587250"/>
            <a:ext cx="81003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Designチームは、AIGC Hub向けに使いやすい社内ツールを制作したいと考えている。パラメータのテストを容易にし、社内メンバーが同じフローで高品質なコンテンツを自動作成できるようにすることが目的。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r>
              <a:rPr lang="en" sz="1200">
                <a:solidFill>
                  <a:schemeClr val="dk2"/>
                </a:solidFill>
              </a:rPr>
              <a:t>n8nの自動化ツールを活用し、</a:t>
            </a:r>
            <a:r>
              <a:rPr lang="en" sz="1200">
                <a:solidFill>
                  <a:schemeClr val="dk2"/>
                </a:solidFill>
              </a:rPr>
              <a:t>コンテンツ</a:t>
            </a:r>
            <a:r>
              <a:rPr lang="en" sz="1200">
                <a:solidFill>
                  <a:schemeClr val="dk2"/>
                </a:solidFill>
              </a:rPr>
              <a:t>の品質を自動評価する仕組みを構築できます。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0" y="0"/>
            <a:ext cx="79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n8nで効率化できる事例：n8nに最適なワークフロー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404800" y="2499700"/>
            <a:ext cx="958800" cy="47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スケジュール</a:t>
            </a:r>
            <a:endParaRPr sz="1000"/>
          </a:p>
        </p:txBody>
      </p:sp>
      <p:sp>
        <p:nvSpPr>
          <p:cNvPr id="118" name="Google Shape;118;p19"/>
          <p:cNvSpPr/>
          <p:nvPr/>
        </p:nvSpPr>
        <p:spPr>
          <a:xfrm>
            <a:off x="7076950" y="2537200"/>
            <a:ext cx="958800" cy="3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4606000" y="2527159"/>
            <a:ext cx="15429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レポートをダウンロード</a:t>
            </a:r>
            <a:endParaRPr sz="900"/>
          </a:p>
        </p:txBody>
      </p:sp>
      <p:cxnSp>
        <p:nvCxnSpPr>
          <p:cNvPr id="120" name="Google Shape;120;p19"/>
          <p:cNvCxnSpPr>
            <a:stCxn id="117" idx="3"/>
            <a:endCxn id="121" idx="1"/>
          </p:cNvCxnSpPr>
          <p:nvPr/>
        </p:nvCxnSpPr>
        <p:spPr>
          <a:xfrm flipH="1" rot="10800000">
            <a:off x="1363600" y="2727250"/>
            <a:ext cx="7716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>
            <a:stCxn id="119" idx="3"/>
            <a:endCxn id="118" idx="1"/>
          </p:cNvCxnSpPr>
          <p:nvPr/>
        </p:nvCxnSpPr>
        <p:spPr>
          <a:xfrm flipH="1" rot="10800000">
            <a:off x="6148900" y="2718559"/>
            <a:ext cx="9282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9"/>
          <p:cNvSpPr/>
          <p:nvPr/>
        </p:nvSpPr>
        <p:spPr>
          <a:xfrm>
            <a:off x="7076950" y="3633625"/>
            <a:ext cx="9588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Slack</a:t>
            </a:r>
            <a:endParaRPr/>
          </a:p>
        </p:txBody>
      </p:sp>
      <p:cxnSp>
        <p:nvCxnSpPr>
          <p:cNvPr id="124" name="Google Shape;124;p19"/>
          <p:cNvCxnSpPr>
            <a:stCxn id="118" idx="2"/>
            <a:endCxn id="123" idx="0"/>
          </p:cNvCxnSpPr>
          <p:nvPr/>
        </p:nvCxnSpPr>
        <p:spPr>
          <a:xfrm>
            <a:off x="7556350" y="2899900"/>
            <a:ext cx="0" cy="7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9"/>
          <p:cNvSpPr txBox="1"/>
          <p:nvPr/>
        </p:nvSpPr>
        <p:spPr>
          <a:xfrm>
            <a:off x="3370600" y="2164850"/>
            <a:ext cx="169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A085"/>
                </a:solidFill>
              </a:rPr>
              <a:t>APIでダウンロード</a:t>
            </a:r>
            <a:endParaRPr sz="1200">
              <a:solidFill>
                <a:srgbClr val="16A085"/>
              </a:solidFill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135050" y="2527159"/>
            <a:ext cx="1699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dminにログイン</a:t>
            </a:r>
            <a:endParaRPr/>
          </a:p>
        </p:txBody>
      </p:sp>
      <p:cxnSp>
        <p:nvCxnSpPr>
          <p:cNvPr id="126" name="Google Shape;126;p19"/>
          <p:cNvCxnSpPr>
            <a:stCxn id="121" idx="3"/>
            <a:endCxn id="119" idx="1"/>
          </p:cNvCxnSpPr>
          <p:nvPr/>
        </p:nvCxnSpPr>
        <p:spPr>
          <a:xfrm>
            <a:off x="3834550" y="2727259"/>
            <a:ext cx="77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>
            <a:stCxn id="123" idx="1"/>
            <a:endCxn id="128" idx="3"/>
          </p:cNvCxnSpPr>
          <p:nvPr/>
        </p:nvCxnSpPr>
        <p:spPr>
          <a:xfrm rot="10800000">
            <a:off x="6148750" y="3833725"/>
            <a:ext cx="92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9"/>
          <p:cNvSpPr/>
          <p:nvPr/>
        </p:nvSpPr>
        <p:spPr>
          <a:xfrm>
            <a:off x="5190100" y="3633620"/>
            <a:ext cx="9588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Gmail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6920350" y="2164850"/>
            <a:ext cx="13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A085"/>
                </a:solidFill>
              </a:rPr>
              <a:t>レポートを整理</a:t>
            </a:r>
            <a:endParaRPr sz="1200">
              <a:solidFill>
                <a:srgbClr val="16A085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7147000" y="3999450"/>
            <a:ext cx="9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A085"/>
                </a:solidFill>
              </a:rPr>
              <a:t>最終確認</a:t>
            </a:r>
            <a:endParaRPr sz="1200">
              <a:solidFill>
                <a:srgbClr val="16A085"/>
              </a:solidFill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96750" y="692425"/>
            <a:ext cx="810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</a:t>
            </a:r>
            <a:r>
              <a:rPr b="1" lang="en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Liverチームは、</a:t>
            </a:r>
            <a:r>
              <a:rPr lang="en" sz="1200">
                <a:solidFill>
                  <a:schemeClr val="dk2"/>
                </a:solidFill>
              </a:rPr>
              <a:t>毎日BDシステムからレポートをダウンロードし、手動で日報を作成・送信しています。現在BigQueryで同様のレポートが出せないため、自動化が難航している。また、複数のファイルからデータを作成し、特定のライバー案件を目視で確認する作業に時間がかかっている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r>
              <a:rPr lang="en" sz="1200">
                <a:solidFill>
                  <a:schemeClr val="dk2"/>
                </a:solidFill>
              </a:rPr>
              <a:t>自動化ツールでレポートを取得し、AIで分析した結果をSlackに送信してチェック。最終的にGmailで自動配信するフローが構築可能です。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0" y="0"/>
            <a:ext cx="79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n8nで効率化できる事例：n8nに最適なワークフロー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3901050" y="2287050"/>
            <a:ext cx="49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n8nなしでもAIで解決する事例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324" y="932600"/>
            <a:ext cx="6305149" cy="41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96750" y="692425"/>
            <a:ext cx="231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Translationチームの翻訳ドキュメントには多くの専門用語や定型表現があります。過去のドキュメントや用語集をAIが参照し、翻訳業務をサポートできるようにしたい。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r>
              <a:rPr b="1" lang="en" sz="1200">
                <a:solidFill>
                  <a:schemeClr val="dk2"/>
                </a:solidFill>
              </a:rPr>
              <a:t>NotebookLM</a:t>
            </a:r>
            <a:r>
              <a:rPr lang="en" sz="1200">
                <a:solidFill>
                  <a:schemeClr val="dk2"/>
                </a:solidFill>
              </a:rPr>
              <a:t>の活用が最適です。AI自動化フローへの導入については、後ほどメンターと相談してください。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0" y="0"/>
            <a:ext cx="87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n8nなしでもAIで解決する事例：他のAIツールで手軽に解決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378875" y="1286650"/>
            <a:ext cx="3528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ソース重視のAI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アップロードした資料のみに基づいて回答するため、ハルシネーションのリスクを低減。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スマートな要約機能</a:t>
            </a:r>
            <a:br>
              <a:rPr b="1"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要約、トピックの整理、FAQ、学習ガイドを自動生成。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複数資料の同時分析</a:t>
            </a:r>
            <a:br>
              <a:rPr b="1"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大量の資料を同時に分析し、相互参照や統合が可能。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音声オーバービュー</a:t>
            </a:r>
            <a:br>
              <a:rPr b="1"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内容をポッドキャスト形式に変換し、耳での学習が可能に。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簡単操作</a:t>
            </a:r>
            <a:br>
              <a:rPr b="1"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複雑なプロンプトは不要。ファイルをアップロードするだけで開始可能。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550" y="2100875"/>
            <a:ext cx="5182975" cy="28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184500" y="551475"/>
            <a:ext cx="83424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 </a:t>
            </a:r>
            <a:r>
              <a:rPr lang="en" sz="1200">
                <a:solidFill>
                  <a:schemeClr val="dk2"/>
                </a:solidFill>
              </a:rPr>
              <a:t>Translationチームは、社内のあらゆるテキストデータをAIで整理し、今後の翻訳や資料作成（特にビジネスシーンに即したもの）に活用したい。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endParaRPr sz="1200"/>
          </a:p>
        </p:txBody>
      </p:sp>
      <p:sp>
        <p:nvSpPr>
          <p:cNvPr id="153" name="Google Shape;153;p22"/>
          <p:cNvSpPr txBox="1"/>
          <p:nvPr/>
        </p:nvSpPr>
        <p:spPr>
          <a:xfrm>
            <a:off x="0" y="0"/>
            <a:ext cx="87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n8nなしでもAIで解決する事例：他のAIツールで手軽に解決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901050" y="2287050"/>
            <a:ext cx="49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手動と自動を組み合わせた運用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お悩み診断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653700" y="1450500"/>
            <a:ext cx="78366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AIツール vs AI自動化ツール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ツールの限界とリスク</a:t>
            </a:r>
            <a:endParaRPr b="1"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96750" y="638600"/>
            <a:ext cx="8142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 </a:t>
            </a:r>
            <a:r>
              <a:rPr lang="en" sz="1200">
                <a:solidFill>
                  <a:schemeClr val="dk2"/>
                </a:solidFill>
              </a:rPr>
              <a:t>HRチームは組織図の更新やチームビルディング補助金申請などのフローを簡略化したい。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    Mikaiチームは毎月の手動での突合作業を自動化したい。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    Legalチームは日常のルーチン業務を削減したい。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Financeチームは毎月の請求データを担当者に自動送付し、手作業を減らしたい。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r>
              <a:rPr lang="en" sz="1200">
                <a:solidFill>
                  <a:schemeClr val="dk2"/>
                </a:solidFill>
              </a:rPr>
              <a:t>財務・法務分野については、社内プロセスを再設計した上でAI自動化を取り入れるのが得策です（どのポイントで人間が承認するかなど）。</a:t>
            </a:r>
            <a:br>
              <a:rPr lang="en" sz="1200">
                <a:solidFill>
                  <a:schemeClr val="dk2"/>
                </a:solidFill>
              </a:rPr>
            </a:br>
            <a:r>
              <a:rPr b="1" lang="en" sz="1200">
                <a:solidFill>
                  <a:srgbClr val="FF0000"/>
                </a:solidFill>
              </a:rPr>
              <a:t>Risk: </a:t>
            </a:r>
            <a:r>
              <a:rPr lang="en" sz="1200">
                <a:solidFill>
                  <a:schemeClr val="dk2"/>
                </a:solidFill>
              </a:rPr>
              <a:t>財務や法務は責任の重い業務です。AIのミスが見逃されると大きな影響が出るため、完全な全自動化は避けることをおすすめします。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1830813" y="3555014"/>
            <a:ext cx="20031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データソース</a:t>
            </a:r>
            <a:r>
              <a:rPr lang="en" sz="1100"/>
              <a:t> (Google sheet)</a:t>
            </a:r>
            <a:endParaRPr sz="1100"/>
          </a:p>
        </p:txBody>
      </p:sp>
      <p:sp>
        <p:nvSpPr>
          <p:cNvPr id="172" name="Google Shape;172;p25"/>
          <p:cNvSpPr/>
          <p:nvPr/>
        </p:nvSpPr>
        <p:spPr>
          <a:xfrm>
            <a:off x="6750600" y="2806923"/>
            <a:ext cx="20031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Bamboo</a:t>
            </a:r>
            <a:r>
              <a:rPr lang="en"/>
              <a:t> API</a:t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4467550" y="3556364"/>
            <a:ext cx="10884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</a:t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6750600" y="3559413"/>
            <a:ext cx="20031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slides </a:t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6750600" y="4417639"/>
            <a:ext cx="20031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preadsheet</a:t>
            </a:r>
            <a:endParaRPr/>
          </a:p>
        </p:txBody>
      </p:sp>
      <p:cxnSp>
        <p:nvCxnSpPr>
          <p:cNvPr id="176" name="Google Shape;176;p25"/>
          <p:cNvCxnSpPr>
            <a:stCxn id="171" idx="3"/>
            <a:endCxn id="173" idx="1"/>
          </p:cNvCxnSpPr>
          <p:nvPr/>
        </p:nvCxnSpPr>
        <p:spPr>
          <a:xfrm>
            <a:off x="3833913" y="3708914"/>
            <a:ext cx="633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5"/>
          <p:cNvCxnSpPr/>
          <p:nvPr/>
        </p:nvCxnSpPr>
        <p:spPr>
          <a:xfrm>
            <a:off x="5893375" y="2948380"/>
            <a:ext cx="11400" cy="16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5"/>
          <p:cNvCxnSpPr>
            <a:endCxn id="172" idx="1"/>
          </p:cNvCxnSpPr>
          <p:nvPr/>
        </p:nvCxnSpPr>
        <p:spPr>
          <a:xfrm>
            <a:off x="5868600" y="2956023"/>
            <a:ext cx="8820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5"/>
          <p:cNvCxnSpPr>
            <a:stCxn id="173" idx="3"/>
            <a:endCxn id="174" idx="1"/>
          </p:cNvCxnSpPr>
          <p:nvPr/>
        </p:nvCxnSpPr>
        <p:spPr>
          <a:xfrm>
            <a:off x="5555950" y="3710264"/>
            <a:ext cx="11946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5"/>
          <p:cNvCxnSpPr>
            <a:endCxn id="175" idx="1"/>
          </p:cNvCxnSpPr>
          <p:nvPr/>
        </p:nvCxnSpPr>
        <p:spPr>
          <a:xfrm>
            <a:off x="5904900" y="4570039"/>
            <a:ext cx="84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5"/>
          <p:cNvSpPr/>
          <p:nvPr/>
        </p:nvSpPr>
        <p:spPr>
          <a:xfrm>
            <a:off x="296750" y="3532364"/>
            <a:ext cx="387300" cy="362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25"/>
          <p:cNvCxnSpPr/>
          <p:nvPr/>
        </p:nvCxnSpPr>
        <p:spPr>
          <a:xfrm>
            <a:off x="811817" y="3716414"/>
            <a:ext cx="9978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25"/>
          <p:cNvSpPr txBox="1"/>
          <p:nvPr/>
        </p:nvSpPr>
        <p:spPr>
          <a:xfrm>
            <a:off x="520374" y="3867225"/>
            <a:ext cx="15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A085"/>
                </a:solidFill>
              </a:rPr>
              <a:t>手動調整 ・修正</a:t>
            </a:r>
            <a:endParaRPr sz="1200">
              <a:solidFill>
                <a:srgbClr val="16A085"/>
              </a:solidFill>
            </a:endParaRPr>
          </a:p>
        </p:txBody>
      </p:sp>
      <p:sp>
        <p:nvSpPr>
          <p:cNvPr id="184" name="Google Shape;184;p25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手動と自動を組み合わせた運用：n8nと手作業を組み合わせる事例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手動と自動を組み合わせた運用：n8nと手作業を組み合わせる事例</a:t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1953675" y="3104645"/>
            <a:ext cx="958800" cy="3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Slack</a:t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438775" y="3081995"/>
            <a:ext cx="387300" cy="362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6"/>
          <p:cNvCxnSpPr/>
          <p:nvPr/>
        </p:nvCxnSpPr>
        <p:spPr>
          <a:xfrm flipH="1" rot="10800000">
            <a:off x="985875" y="3284350"/>
            <a:ext cx="9678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6"/>
          <p:cNvSpPr txBox="1"/>
          <p:nvPr/>
        </p:nvSpPr>
        <p:spPr>
          <a:xfrm>
            <a:off x="438775" y="3486100"/>
            <a:ext cx="130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A085"/>
                </a:solidFill>
              </a:rPr>
              <a:t>アカウント入力</a:t>
            </a:r>
            <a:endParaRPr sz="1200">
              <a:solidFill>
                <a:srgbClr val="16A085"/>
              </a:solidFill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3623325" y="3104645"/>
            <a:ext cx="1530300" cy="3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アカウント検証</a:t>
            </a: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6009525" y="3085895"/>
            <a:ext cx="2400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AIでコマンド作成</a:t>
            </a:r>
            <a:endParaRPr/>
          </a:p>
        </p:txBody>
      </p:sp>
      <p:cxnSp>
        <p:nvCxnSpPr>
          <p:cNvPr id="196" name="Google Shape;196;p26"/>
          <p:cNvCxnSpPr>
            <a:stCxn id="190" idx="3"/>
            <a:endCxn id="194" idx="1"/>
          </p:cNvCxnSpPr>
          <p:nvPr/>
        </p:nvCxnSpPr>
        <p:spPr>
          <a:xfrm>
            <a:off x="2912475" y="3285995"/>
            <a:ext cx="71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6"/>
          <p:cNvCxnSpPr>
            <a:stCxn id="194" idx="3"/>
            <a:endCxn id="195" idx="1"/>
          </p:cNvCxnSpPr>
          <p:nvPr/>
        </p:nvCxnSpPr>
        <p:spPr>
          <a:xfrm>
            <a:off x="5153625" y="3285995"/>
            <a:ext cx="8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6"/>
          <p:cNvSpPr/>
          <p:nvPr/>
        </p:nvSpPr>
        <p:spPr>
          <a:xfrm>
            <a:off x="6730125" y="4490895"/>
            <a:ext cx="958800" cy="36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Slack</a:t>
            </a:r>
            <a:endParaRPr/>
          </a:p>
        </p:txBody>
      </p:sp>
      <p:cxnSp>
        <p:nvCxnSpPr>
          <p:cNvPr id="199" name="Google Shape;199;p26"/>
          <p:cNvCxnSpPr>
            <a:stCxn id="195" idx="2"/>
            <a:endCxn id="198" idx="0"/>
          </p:cNvCxnSpPr>
          <p:nvPr/>
        </p:nvCxnSpPr>
        <p:spPr>
          <a:xfrm>
            <a:off x="7209525" y="3486095"/>
            <a:ext cx="0" cy="10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6"/>
          <p:cNvSpPr txBox="1"/>
          <p:nvPr/>
        </p:nvSpPr>
        <p:spPr>
          <a:xfrm>
            <a:off x="296750" y="812900"/>
            <a:ext cx="8254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Q: </a:t>
            </a:r>
            <a:r>
              <a:rPr lang="en" sz="1200">
                <a:solidFill>
                  <a:schemeClr val="dk2"/>
                </a:solidFill>
              </a:rPr>
              <a:t>Revenueチームはプライズ配布時のヒューマンエラーを減らしたい。現在はリストをBot形式に整理した後、手動で1件ずつBotに貼り付けて配布している。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A: </a:t>
            </a:r>
            <a:r>
              <a:rPr lang="en" sz="1200">
                <a:solidFill>
                  <a:schemeClr val="dk2"/>
                </a:solidFill>
              </a:rPr>
              <a:t>プライズ配布に関しては、</a:t>
            </a:r>
            <a:r>
              <a:rPr lang="en" sz="1200">
                <a:solidFill>
                  <a:schemeClr val="dk2"/>
                </a:solidFill>
              </a:rPr>
              <a:t>リストの抽出、審査、コマンド生成、配布などをAI自動化フローに組み込むためのプロセス再設計を検討しましょう。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Risk:</a:t>
            </a:r>
            <a:r>
              <a:rPr b="1" lang="en" sz="1200">
                <a:solidFill>
                  <a:srgbClr val="FF0000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プライズ（金銭）</a:t>
            </a:r>
            <a:r>
              <a:rPr lang="en" sz="1200">
                <a:solidFill>
                  <a:schemeClr val="dk2"/>
                </a:solidFill>
              </a:rPr>
              <a:t>が絡むため、AIのミスが見逃されると問題になります。人間による最終確認を残した運用を</a:t>
            </a:r>
            <a:r>
              <a:rPr lang="en" sz="1200">
                <a:solidFill>
                  <a:schemeClr val="dk2"/>
                </a:solidFill>
              </a:rPr>
              <a:t>おすすめ</a:t>
            </a:r>
            <a:r>
              <a:rPr lang="en" sz="1200">
                <a:solidFill>
                  <a:schemeClr val="dk2"/>
                </a:solidFill>
              </a:rPr>
              <a:t>します。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お悩み診断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2054400" y="2043900"/>
            <a:ext cx="50352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Any Questions?</a:t>
            </a:r>
            <a:endParaRPr b="1" sz="4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3901050" y="2287050"/>
            <a:ext cx="49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CTO Prize Hackathon最新情報</a:t>
            </a:r>
            <a:endParaRPr b="1" sz="3000">
              <a:solidFill>
                <a:srgbClr val="34354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>
            <a:off x="145673" y="3136220"/>
            <a:ext cx="8575500" cy="181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Phase 1: POC Demo Day </a:t>
            </a:r>
            <a:r>
              <a:rPr lang="en">
                <a:solidFill>
                  <a:srgbClr val="FF0000"/>
                </a:solidFill>
              </a:rPr>
              <a:t>(4/15)</a:t>
            </a:r>
            <a:r>
              <a:rPr lang="en">
                <a:solidFill>
                  <a:schemeClr val="dk2"/>
                </a:solidFill>
              </a:rPr>
              <a:t>：ルールと評価基準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231000" y="937272"/>
            <a:ext cx="8798400" cy="4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提出要件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Pain Pointの特定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解決したい課題や手作業タスクを明確にする。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解決策の披露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AI自動化ワークフローを提出（ロジックや連携ツールをデモ）。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この段階で本番環境への完全導入は不要です。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成功指標の定義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Rolloutフェーズでの目標を提出（例：削減工数、ヒューマンエラー低減率、コスト削減額など）。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審査基準（Phase 1）：</a:t>
            </a:r>
            <a:r>
              <a:rPr i="1" lang="en">
                <a:solidFill>
                  <a:schemeClr val="dk2"/>
                </a:solidFill>
              </a:rPr>
              <a:t>CTO Prizeチームとメンターが5つ星で評価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30%  課題解決と目標設定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お悩みと解決策の明確さ、KPI設定の精度。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30% </a:t>
            </a:r>
            <a:r>
              <a:rPr b="1" lang="en" sz="1200">
                <a:solidFill>
                  <a:schemeClr val="dk2"/>
                </a:solidFill>
              </a:rPr>
              <a:t> </a:t>
            </a:r>
            <a:r>
              <a:rPr b="1" lang="en" sz="1200">
                <a:solidFill>
                  <a:schemeClr val="dk2"/>
                </a:solidFill>
              </a:rPr>
              <a:t>ワークフローの完成度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自動化フローの論理性と完成度。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40%  全社員投票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詳細は次のページへ！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0" name="Google Shape;220;p29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CTO Prize Hackathon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>
            <a:off x="145675" y="3857618"/>
            <a:ext cx="8575500" cy="1147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231000" y="1065475"/>
            <a:ext cx="8603400" cy="40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素晴らしいAI解決策を全社員に披露するため、</a:t>
            </a:r>
            <a:r>
              <a:rPr b="1" lang="en" sz="1200">
                <a:solidFill>
                  <a:schemeClr val="dk2"/>
                </a:solidFill>
              </a:rPr>
              <a:t>全社員投票イベント</a:t>
            </a:r>
            <a:r>
              <a:rPr lang="en" sz="1200">
                <a:solidFill>
                  <a:schemeClr val="dk2"/>
                </a:solidFill>
              </a:rPr>
              <a:t>を実施します！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提出要件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3〜5分の</a:t>
            </a:r>
            <a:r>
              <a:rPr b="1" lang="en" sz="1200">
                <a:solidFill>
                  <a:schemeClr val="dk2"/>
                </a:solidFill>
              </a:rPr>
              <a:t>デモ動画</a:t>
            </a:r>
            <a:r>
              <a:rPr lang="en" sz="1200">
                <a:solidFill>
                  <a:schemeClr val="dk2"/>
                </a:solidFill>
              </a:rPr>
              <a:t>と</a:t>
            </a:r>
            <a:r>
              <a:rPr b="1" lang="en" sz="1200">
                <a:solidFill>
                  <a:schemeClr val="dk2"/>
                </a:solidFill>
              </a:rPr>
              <a:t>3枚のスライド</a:t>
            </a:r>
            <a:r>
              <a:rPr lang="en" sz="1200">
                <a:solidFill>
                  <a:schemeClr val="dk2"/>
                </a:solidFill>
              </a:rPr>
              <a:t>を提出してください。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内容：Pain Pointの定義 ⭢ 自動化ワークフローの提示 ⭢ 目標指標の宣言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投票期間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en" sz="1200">
                <a:solidFill>
                  <a:schemeClr val="dk2"/>
                </a:solidFill>
              </a:rPr>
              <a:t>開始：</a:t>
            </a:r>
            <a:r>
              <a:rPr lang="en" sz="1200">
                <a:solidFill>
                  <a:schemeClr val="dk2"/>
                </a:solidFill>
              </a:rPr>
              <a:t>Demo Day 1の3日前から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en" sz="1200">
                <a:solidFill>
                  <a:schemeClr val="dk2"/>
                </a:solidFill>
              </a:rPr>
              <a:t>終了：</a:t>
            </a:r>
            <a:r>
              <a:rPr lang="en" sz="1200">
                <a:solidFill>
                  <a:schemeClr val="dk2"/>
                </a:solidFill>
              </a:rPr>
              <a:t>Demo Day 1 当日の終業時刻まで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投票場所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エントリーはすべて</a:t>
            </a:r>
            <a:r>
              <a:rPr b="1" lang="en" sz="1200">
                <a:solidFill>
                  <a:schemeClr val="dk2"/>
                </a:solidFill>
              </a:rPr>
              <a:t>#global-announcement</a:t>
            </a:r>
            <a:r>
              <a:rPr lang="en" sz="1200">
                <a:solidFill>
                  <a:schemeClr val="dk2"/>
                </a:solidFill>
              </a:rPr>
              <a:t>にて公開。最も「これはすごい！」と思ったソリューションに一票を投じてください！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スコア配分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全社員投票の結果は、</a:t>
            </a:r>
            <a:r>
              <a:rPr b="1" lang="en" sz="1200">
                <a:solidFill>
                  <a:schemeClr val="dk2"/>
                </a:solidFill>
              </a:rPr>
              <a:t>Phase 1総合スコアの40%を占めます</a:t>
            </a:r>
            <a:r>
              <a:rPr lang="en" sz="1200">
                <a:solidFill>
                  <a:schemeClr val="dk2"/>
                </a:solidFill>
              </a:rPr>
              <a:t>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リワードと選考：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上位5チーム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1チームにつき</a:t>
            </a:r>
            <a:r>
              <a:rPr b="1" lang="en" sz="1200">
                <a:solidFill>
                  <a:srgbClr val="FF0000"/>
                </a:solidFill>
              </a:rPr>
              <a:t>¥10,000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上位10チーム</a:t>
            </a:r>
            <a:r>
              <a:rPr lang="en" sz="1200">
                <a:solidFill>
                  <a:schemeClr val="dk2"/>
                </a:solidFill>
              </a:rPr>
              <a:t>はPhase 2 (Rollout)への進出が決定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Phase 1: POC Demo Day </a:t>
            </a:r>
            <a:r>
              <a:rPr lang="en">
                <a:solidFill>
                  <a:srgbClr val="FF0000"/>
                </a:solidFill>
              </a:rPr>
              <a:t>(4/15)</a:t>
            </a:r>
            <a:r>
              <a:rPr lang="en">
                <a:solidFill>
                  <a:schemeClr val="dk2"/>
                </a:solidFill>
              </a:rPr>
              <a:t>：リワードと選考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CTO Prize Hackathon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/>
          <p:nvPr/>
        </p:nvSpPr>
        <p:spPr>
          <a:xfrm>
            <a:off x="176875" y="3010166"/>
            <a:ext cx="8575500" cy="187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1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Phase 2: Rollout Demo Day </a:t>
            </a:r>
            <a:r>
              <a:rPr lang="en">
                <a:solidFill>
                  <a:srgbClr val="FF0000"/>
                </a:solidFill>
              </a:rPr>
              <a:t>(6/17)</a:t>
            </a:r>
            <a:r>
              <a:rPr lang="en">
                <a:solidFill>
                  <a:schemeClr val="dk2"/>
                </a:solidFill>
              </a:rPr>
              <a:t>：</a:t>
            </a:r>
            <a:r>
              <a:rPr lang="en">
                <a:solidFill>
                  <a:schemeClr val="dk2"/>
                </a:solidFill>
              </a:rPr>
              <a:t>ルールと評価基準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231000" y="1022174"/>
            <a:ext cx="8382300" cy="4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最終プレゼンテーション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ソリューションの披露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実際に稼働しているAI自動化ツールのデモを見せてください。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ビフォー・アフター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AIワークフローの実装によって業務がどう生まれ変わったか、その手応えをアピールしましょう。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実績の検証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POCで掲げたKPIをクリアできたか報告してください。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審査基準</a:t>
            </a:r>
            <a:r>
              <a:rPr b="1" lang="en">
                <a:solidFill>
                  <a:schemeClr val="dk2"/>
                </a:solidFill>
              </a:rPr>
              <a:t>（Phase 2）：</a:t>
            </a:r>
            <a:r>
              <a:rPr i="1" lang="en">
                <a:solidFill>
                  <a:schemeClr val="dk2"/>
                </a:solidFill>
              </a:rPr>
              <a:t>GM &amp; C-Levelが5つ星で評価</a:t>
            </a:r>
            <a:endParaRPr i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30% 導入難易度 (#respecteveryone)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チーム全員が使いこなせる、優しい設計になっていますか？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40% 有効性 (#focusongoal)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狙い通り、業務に大きな変化をもたらしましたか？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30% 創造性 (#breakthenorm)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「その手があったか！」と思わせる、斬新な発想はありますか？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236" name="Google Shape;236;p31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CTO Prize Hackathon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459000" y="1313636"/>
            <a:ext cx="33126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ファイナリスト賞：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200">
                <a:solidFill>
                  <a:schemeClr val="dk2"/>
                </a:solidFill>
              </a:rPr>
              <a:t>Top 3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優勝：</a:t>
            </a:r>
            <a:r>
              <a:rPr b="1" lang="en" sz="1200">
                <a:solidFill>
                  <a:srgbClr val="FF0000"/>
                </a:solidFill>
              </a:rPr>
              <a:t>¥100,000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準優勝：</a:t>
            </a:r>
            <a:r>
              <a:rPr b="1" lang="en" sz="1200">
                <a:solidFill>
                  <a:srgbClr val="FF0000"/>
                </a:solidFill>
              </a:rPr>
              <a:t>¥50,000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第3位：</a:t>
            </a:r>
            <a:r>
              <a:rPr b="1" lang="en" sz="1200">
                <a:solidFill>
                  <a:srgbClr val="FF0000"/>
                </a:solidFill>
              </a:rPr>
              <a:t>¥30,000</a:t>
            </a:r>
            <a:endParaRPr b="1"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200">
                <a:solidFill>
                  <a:schemeClr val="dk2"/>
                </a:solidFill>
              </a:rPr>
              <a:t>他7チーム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200">
                <a:solidFill>
                  <a:schemeClr val="dk2"/>
                </a:solidFill>
              </a:rPr>
              <a:t>各チーム</a:t>
            </a:r>
            <a:r>
              <a:rPr b="1" lang="en" sz="1200">
                <a:solidFill>
                  <a:srgbClr val="FF0000"/>
                </a:solidFill>
              </a:rPr>
              <a:t>¥10,000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2" name="Google Shape;242;p32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Phase 2: </a:t>
            </a:r>
            <a:r>
              <a:rPr lang="en">
                <a:solidFill>
                  <a:srgbClr val="FF0000"/>
                </a:solidFill>
              </a:rPr>
              <a:t>Jun 17th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Rollout Demo Day -  </a:t>
            </a:r>
            <a:r>
              <a:rPr lang="en">
                <a:solidFill>
                  <a:schemeClr val="dk2"/>
                </a:solidFill>
              </a:rPr>
              <a:t>Final Awards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32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CTO Prize Hackathon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44" name="Google Shape;244;p32" title="前三名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93" y="3358964"/>
            <a:ext cx="3214292" cy="133927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pic>
      <p:sp>
        <p:nvSpPr>
          <p:cNvPr id="245" name="Google Shape;245;p32"/>
          <p:cNvSpPr/>
          <p:nvPr/>
        </p:nvSpPr>
        <p:spPr>
          <a:xfrm>
            <a:off x="540557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2">
                <a:solidFill>
                  <a:schemeClr val="lt1"/>
                </a:solidFill>
              </a:rPr>
              <a:t>¥100,000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1600732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2">
                <a:solidFill>
                  <a:schemeClr val="lt1"/>
                </a:solidFill>
              </a:rPr>
              <a:t>¥50,000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247" name="Google Shape;247;p32"/>
          <p:cNvSpPr/>
          <p:nvPr/>
        </p:nvSpPr>
        <p:spPr>
          <a:xfrm>
            <a:off x="2660926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2">
                <a:solidFill>
                  <a:schemeClr val="lt1"/>
                </a:solidFill>
              </a:rPr>
              <a:t>¥30,000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4572000" y="1313636"/>
            <a:ext cx="4187100" cy="3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特別賞：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" sz="1200">
                <a:solidFill>
                  <a:schemeClr val="dk2"/>
                </a:solidFill>
              </a:rPr>
              <a:t>ベスト・ノンプロダクト賞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en" sz="1200">
                <a:solidFill>
                  <a:srgbClr val="FF0000"/>
                </a:solidFill>
              </a:rPr>
              <a:t>¥20,000</a:t>
            </a:r>
            <a:r>
              <a:rPr lang="en" sz="1200">
                <a:solidFill>
                  <a:schemeClr val="dk2"/>
                </a:solidFill>
              </a:rPr>
              <a:t>（1チーム限定）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" sz="1200">
                <a:solidFill>
                  <a:schemeClr val="dk2"/>
                </a:solidFill>
              </a:rPr>
              <a:t>トップ・メンター賞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en" sz="1200">
                <a:solidFill>
                  <a:srgbClr val="FF0000"/>
                </a:solidFill>
              </a:rPr>
              <a:t>¥20,000</a:t>
            </a:r>
            <a:r>
              <a:rPr lang="en" sz="1200">
                <a:solidFill>
                  <a:schemeClr val="dk2"/>
                </a:solidFill>
              </a:rPr>
              <a:t>（メンター1名限定）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Next Steps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CTO Prize Hackathon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300800" y="3514850"/>
            <a:ext cx="2615100" cy="1669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 txBox="1"/>
          <p:nvPr/>
        </p:nvSpPr>
        <p:spPr>
          <a:xfrm>
            <a:off x="535800" y="1151300"/>
            <a:ext cx="81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286350" y="1151300"/>
            <a:ext cx="54888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Phase 1 (POC)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6468350" y="1151300"/>
            <a:ext cx="22692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Phase 2 (Rollout)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259" name="Google Shape;259;p33"/>
          <p:cNvGraphicFramePr/>
          <p:nvPr/>
        </p:nvGraphicFramePr>
        <p:xfrm>
          <a:off x="51058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{BAE23EB9-FDB9-4F10-A8E8-D0ABE615E70E}</a:tableStyleId>
              </a:tblPr>
              <a:tblGrid>
                <a:gridCol w="2195575"/>
              </a:tblGrid>
              <a:tr h="36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3月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Workshop 1 (3/5)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AI自動化ツール入門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Workshop 2  (3/12)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</a:rPr>
                        <a:t>お悩み診断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33"/>
          <p:cNvSpPr/>
          <p:nvPr/>
        </p:nvSpPr>
        <p:spPr>
          <a:xfrm>
            <a:off x="3040666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5976525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2" name="Google Shape;262;p33"/>
          <p:cNvGraphicFramePr/>
          <p:nvPr/>
        </p:nvGraphicFramePr>
        <p:xfrm>
          <a:off x="3577962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{BAE23EB9-FDB9-4F10-A8E8-D0ABE615E70E}</a:tableStyleId>
              </a:tblPr>
              <a:tblGrid>
                <a:gridCol w="2109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3月末〜4月中旬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Workshop 3 (3/18)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AIツール活用編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Workshop 4 (~4/14)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プロトタイプ作成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3" name="Google Shape;263;p33"/>
          <p:cNvGraphicFramePr/>
          <p:nvPr/>
        </p:nvGraphicFramePr>
        <p:xfrm>
          <a:off x="653783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{BAE23EB9-FDB9-4F10-A8E8-D0ABE615E70E}</a:tableStyleId>
              </a:tblPr>
              <a:tblGrid>
                <a:gridCol w="2034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4月末〜6月中旬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実装・展開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実際の業務へ導入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4" name="Google Shape;264;p33"/>
          <p:cNvGraphicFramePr/>
          <p:nvPr/>
        </p:nvGraphicFramePr>
        <p:xfrm>
          <a:off x="3577974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{BAE23EB9-FDB9-4F10-A8E8-D0ABE615E70E}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4/15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Demo Day 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開発したPOCを披露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33"/>
          <p:cNvGraphicFramePr/>
          <p:nvPr/>
        </p:nvGraphicFramePr>
        <p:xfrm>
          <a:off x="510587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{BAE23EB9-FDB9-4F10-A8E8-D0ABE615E70E}</a:tableStyleId>
              </a:tblPr>
              <a:tblGrid>
                <a:gridCol w="2195575"/>
              </a:tblGrid>
              <a:tr h="35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〜3/17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CTO Prize参加申し込み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アイデアを持ってエントリー！メンターとのマッチングを行います。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6" name="Google Shape;266;p33"/>
          <p:cNvGraphicFramePr/>
          <p:nvPr/>
        </p:nvGraphicFramePr>
        <p:xfrm>
          <a:off x="6468349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{BAE23EB9-FDB9-4F10-A8E8-D0ABE615E70E}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6/17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Demo Day 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成果を発表し、プライズを勝ち取ろう！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34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ご清聴ありがとうございました！</a:t>
            </a:r>
            <a:endParaRPr i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