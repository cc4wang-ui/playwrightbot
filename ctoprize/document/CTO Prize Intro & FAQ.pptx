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88" r:id="rId5"/>
    <p:sldMasterId id="214748368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67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2A3B9CE-418E-434F-BF71-414BA2EF0C03}">
  <a:tblStyle styleId="{22A3B9CE-418E-434F-BF71-414BA2EF0C0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67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slide" Target="slides/slide32.xml"/><Relationship Id="rId16" Type="http://schemas.openxmlformats.org/officeDocument/2006/relationships/slide" Target="slides/slide9.xml"/><Relationship Id="rId38" Type="http://schemas.openxmlformats.org/officeDocument/2006/relationships/slide" Target="slides/slide31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bbd395a39e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bbd395a39e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bcac15115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bcac15115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c5302923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c5302923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c53029235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c53029235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c53029235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c53029235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c53029235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c53029235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bbd395a39e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bbd395a39e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bcac15115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bcac15115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bd350be16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bd350be16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bd350be16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bd350be1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bcc0920d8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bcc0920d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bcc0920d8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bcc0920d8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bcc0920d8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bcc0920d8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cedb188043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cedb188043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cedb188043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cedb188043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cedb188043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cedb188043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cedb188043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cedb188043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bcc0920d8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bcc0920d8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bcc0920d84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bcc0920d84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bd8735a9e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bd8735a9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bcc0920d8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bcc0920d8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bd8735a9e6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bd8735a9e6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bd8735a9e6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bd8735a9e6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bd8735a9e6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bd8735a9e6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cedb188043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cedb188043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cedb188043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cedb188043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cedb188043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cedb188043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cedb188043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cedb188043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bd8735a9e6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bd8735a9e6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bd8735a9e6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bd8735a9e6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bd8735a9e6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bd8735a9e6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bd8735a9e6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bd8735a9e6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-9600"/>
            <a:ext cx="9220800" cy="51627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2407" y="0"/>
            <a:ext cx="519903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type="title"/>
          </p:nvPr>
        </p:nvSpPr>
        <p:spPr>
          <a:xfrm>
            <a:off x="5875550" y="2131950"/>
            <a:ext cx="29757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2pPr>
            <a:lvl3pPr lvl="2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3pPr>
            <a:lvl4pPr lvl="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4pPr>
            <a:lvl5pPr lvl="4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5pPr>
            <a:lvl6pPr lvl="5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6pPr>
            <a:lvl7pPr lvl="6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7pPr>
            <a:lvl8pPr lvl="7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8pPr>
            <a:lvl9pPr lvl="8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body"/>
          </p:nvPr>
        </p:nvSpPr>
        <p:spPr>
          <a:xfrm>
            <a:off x="5875550" y="4257375"/>
            <a:ext cx="27258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b="1" sz="12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b="1"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b="1"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b="1"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b="1"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b="1"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b="1"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b="1"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b="1"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2" type="body"/>
          </p:nvPr>
        </p:nvSpPr>
        <p:spPr>
          <a:xfrm>
            <a:off x="5875550" y="4561875"/>
            <a:ext cx="27258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b="1" sz="12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b="1"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b="1"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b="1"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b="1"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b="1"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b="1"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b="1"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b="1"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3" type="body"/>
          </p:nvPr>
        </p:nvSpPr>
        <p:spPr>
          <a:xfrm>
            <a:off x="5875550" y="4839000"/>
            <a:ext cx="27258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b="1" sz="12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b="1"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b="1"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b="1"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b="1"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b="1"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b="1"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b="1"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b="1" sz="1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64600" y="0"/>
            <a:ext cx="3015000" cy="51435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</a:endParaRPr>
          </a:p>
        </p:txBody>
      </p:sp>
      <p:pic>
        <p:nvPicPr>
          <p:cNvPr id="20" name="Google Shape;20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4600" y="2685606"/>
            <a:ext cx="2440551" cy="2414468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3931725" y="2317800"/>
            <a:ext cx="4929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Text(A ver.)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535800" y="1577600"/>
            <a:ext cx="8118900" cy="22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2" type="subTitle"/>
          </p:nvPr>
        </p:nvSpPr>
        <p:spPr>
          <a:xfrm>
            <a:off x="535800" y="770875"/>
            <a:ext cx="768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b="1"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7" name="Google Shape;27;p4"/>
          <p:cNvCxnSpPr/>
          <p:nvPr/>
        </p:nvCxnSpPr>
        <p:spPr>
          <a:xfrm>
            <a:off x="0" y="39585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Text(B ver.)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0" name="Google Shape;30;p5"/>
          <p:cNvSpPr/>
          <p:nvPr/>
        </p:nvSpPr>
        <p:spPr>
          <a:xfrm>
            <a:off x="0" y="0"/>
            <a:ext cx="9144000" cy="3033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535800" y="1577600"/>
            <a:ext cx="8118900" cy="22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subTitle"/>
          </p:nvPr>
        </p:nvSpPr>
        <p:spPr>
          <a:xfrm>
            <a:off x="535800" y="770875"/>
            <a:ext cx="768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b="1"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Text(B ver.) 1">
  <p:cSld name="TITLE_AND_TWO_COLUMNS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7" name="Google Shape;37;p7"/>
          <p:cNvSpPr/>
          <p:nvPr/>
        </p:nvSpPr>
        <p:spPr>
          <a:xfrm>
            <a:off x="0" y="0"/>
            <a:ext cx="9144000" cy="3033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44" name="Google Shape;44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Text(A ver.) 13">
  <p:cSld name="TITLE_AND_BODY_14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48" name="Google Shape;48;p10"/>
          <p:cNvCxnSpPr/>
          <p:nvPr/>
        </p:nvCxnSpPr>
        <p:spPr>
          <a:xfrm>
            <a:off x="0" y="39585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" name="Google Shape;49;p10"/>
          <p:cNvSpPr txBox="1"/>
          <p:nvPr>
            <p:ph type="title"/>
          </p:nvPr>
        </p:nvSpPr>
        <p:spPr>
          <a:xfrm>
            <a:off x="13400" y="-4000"/>
            <a:ext cx="91038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Text(B ver.) 1 1">
  <p:cSld name="TITLE_AND_TWO_COLUMNS_2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2" name="Google Shape;52;p11"/>
          <p:cNvSpPr/>
          <p:nvPr/>
        </p:nvSpPr>
        <p:spPr>
          <a:xfrm>
            <a:off x="0" y="0"/>
            <a:ext cx="9144000" cy="3033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535800" y="1577600"/>
            <a:ext cx="8118900" cy="22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2" type="subTitle"/>
          </p:nvPr>
        </p:nvSpPr>
        <p:spPr>
          <a:xfrm>
            <a:off x="535800" y="770875"/>
            <a:ext cx="768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b="1"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Text(A ver.) 22">
  <p:cSld name="TITLE_AND_BODY_23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7" name="Google Shape;57;p12"/>
          <p:cNvSpPr txBox="1"/>
          <p:nvPr>
            <p:ph idx="1" type="body"/>
          </p:nvPr>
        </p:nvSpPr>
        <p:spPr>
          <a:xfrm>
            <a:off x="535800" y="1577600"/>
            <a:ext cx="8118900" cy="22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" name="Google Shape;58;p12"/>
          <p:cNvSpPr txBox="1"/>
          <p:nvPr>
            <p:ph idx="2" type="subTitle"/>
          </p:nvPr>
        </p:nvSpPr>
        <p:spPr>
          <a:xfrm>
            <a:off x="535800" y="770875"/>
            <a:ext cx="768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b="1"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60" name="Google Shape;60;p12"/>
          <p:cNvCxnSpPr/>
          <p:nvPr/>
        </p:nvCxnSpPr>
        <p:spPr>
          <a:xfrm>
            <a:off x="0" y="39585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Text(A ver.) 16">
  <p:cSld name="TITLE_AND_BODY_17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3" name="Google Shape;63;p13"/>
          <p:cNvSpPr txBox="1"/>
          <p:nvPr>
            <p:ph idx="1" type="body"/>
          </p:nvPr>
        </p:nvSpPr>
        <p:spPr>
          <a:xfrm>
            <a:off x="535800" y="1577600"/>
            <a:ext cx="8118900" cy="22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2" type="subTitle"/>
          </p:nvPr>
        </p:nvSpPr>
        <p:spPr>
          <a:xfrm>
            <a:off x="535800" y="770875"/>
            <a:ext cx="768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b="1"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66" name="Google Shape;66;p13"/>
          <p:cNvCxnSpPr/>
          <p:nvPr/>
        </p:nvCxnSpPr>
        <p:spPr>
          <a:xfrm>
            <a:off x="0" y="39585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Text(A ver.) 19">
  <p:cSld name="TITLE_AND_BODY_20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535800" y="1577600"/>
            <a:ext cx="8118900" cy="22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2" type="subTitle"/>
          </p:nvPr>
        </p:nvSpPr>
        <p:spPr>
          <a:xfrm>
            <a:off x="535800" y="770875"/>
            <a:ext cx="768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b="1"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72" name="Google Shape;72;p14"/>
          <p:cNvCxnSpPr/>
          <p:nvPr/>
        </p:nvCxnSpPr>
        <p:spPr>
          <a:xfrm>
            <a:off x="0" y="39585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Text(A ver.) 1">
  <p:cSld name="1_ Text(A ver.)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535800" y="1577600"/>
            <a:ext cx="8118900" cy="22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15"/>
          <p:cNvSpPr txBox="1"/>
          <p:nvPr>
            <p:ph idx="2" type="subTitle"/>
          </p:nvPr>
        </p:nvSpPr>
        <p:spPr>
          <a:xfrm>
            <a:off x="535800" y="770875"/>
            <a:ext cx="768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1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15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78" name="Google Shape;78;p15"/>
          <p:cNvCxnSpPr/>
          <p:nvPr/>
        </p:nvCxnSpPr>
        <p:spPr>
          <a:xfrm>
            <a:off x="0" y="39585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Text(A ver.) 23">
  <p:cSld name="TITLE_AND_BODY_24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535800" y="1577600"/>
            <a:ext cx="8118900" cy="22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2" type="subTitle"/>
          </p:nvPr>
        </p:nvSpPr>
        <p:spPr>
          <a:xfrm>
            <a:off x="535800" y="770875"/>
            <a:ext cx="768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b="1" sz="2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84" name="Google Shape;84;p16"/>
          <p:cNvCxnSpPr/>
          <p:nvPr/>
        </p:nvCxnSpPr>
        <p:spPr>
          <a:xfrm>
            <a:off x="0" y="39585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Text(A ver.) 16 1">
  <p:cSld name="TITLE_AND_BODY_17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535800" y="1577600"/>
            <a:ext cx="8118900" cy="22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7"/>
          <p:cNvSpPr txBox="1"/>
          <p:nvPr>
            <p:ph idx="2" type="subTitle"/>
          </p:nvPr>
        </p:nvSpPr>
        <p:spPr>
          <a:xfrm>
            <a:off x="535800" y="770875"/>
            <a:ext cx="768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1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17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90" name="Google Shape;90;p17"/>
          <p:cNvCxnSpPr/>
          <p:nvPr/>
        </p:nvCxnSpPr>
        <p:spPr>
          <a:xfrm>
            <a:off x="0" y="39585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Text(A ver.) 16 2">
  <p:cSld name="TITLE_AND_BODY_17_2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535800" y="1577600"/>
            <a:ext cx="8118900" cy="22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18"/>
          <p:cNvSpPr txBox="1"/>
          <p:nvPr>
            <p:ph idx="2" type="subTitle"/>
          </p:nvPr>
        </p:nvSpPr>
        <p:spPr>
          <a:xfrm>
            <a:off x="535800" y="770875"/>
            <a:ext cx="768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1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p18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96" name="Google Shape;96;p18"/>
          <p:cNvCxnSpPr/>
          <p:nvPr/>
        </p:nvCxnSpPr>
        <p:spPr>
          <a:xfrm>
            <a:off x="0" y="39585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Text(A ver.) 24">
  <p:cSld name="TITLE_AND_BODY_25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535800" y="1577600"/>
            <a:ext cx="8118900" cy="22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2" type="subTitle"/>
          </p:nvPr>
        </p:nvSpPr>
        <p:spPr>
          <a:xfrm>
            <a:off x="535800" y="770875"/>
            <a:ext cx="768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b="1" sz="2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02" name="Google Shape;102;p19"/>
          <p:cNvCxnSpPr/>
          <p:nvPr/>
        </p:nvCxnSpPr>
        <p:spPr>
          <a:xfrm>
            <a:off x="0" y="39585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Text(B ver.) 4">
  <p:cSld name="TITLE_AND_TWO_COLUMNS_10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05" name="Google Shape;105;p20"/>
          <p:cNvSpPr/>
          <p:nvPr/>
        </p:nvSpPr>
        <p:spPr>
          <a:xfrm>
            <a:off x="0" y="0"/>
            <a:ext cx="9144000" cy="3033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535800" y="1577600"/>
            <a:ext cx="8118900" cy="22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7" name="Google Shape;107;p20"/>
          <p:cNvSpPr txBox="1"/>
          <p:nvPr>
            <p:ph idx="2" type="subTitle"/>
          </p:nvPr>
        </p:nvSpPr>
        <p:spPr>
          <a:xfrm>
            <a:off x="535800" y="770875"/>
            <a:ext cx="768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b="1" sz="2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Text(B ver.) 2 2">
  <p:cSld name="TITLE_AND_TWO_COLUMNS_2_2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10" name="Google Shape;110;p21"/>
          <p:cNvSpPr/>
          <p:nvPr/>
        </p:nvSpPr>
        <p:spPr>
          <a:xfrm>
            <a:off x="0" y="0"/>
            <a:ext cx="9144000" cy="3033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1" name="Google Shape;111;p21"/>
          <p:cNvSpPr txBox="1"/>
          <p:nvPr>
            <p:ph type="title"/>
          </p:nvPr>
        </p:nvSpPr>
        <p:spPr>
          <a:xfrm>
            <a:off x="538225" y="776500"/>
            <a:ext cx="76773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b="1" sz="2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Text(A ver.) 2">
  <p:cSld name="TITLE_AND_BODY_1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535800" y="1577600"/>
            <a:ext cx="8118900" cy="22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5" name="Google Shape;115;p22"/>
          <p:cNvSpPr txBox="1"/>
          <p:nvPr>
            <p:ph idx="2" type="subTitle"/>
          </p:nvPr>
        </p:nvSpPr>
        <p:spPr>
          <a:xfrm>
            <a:off x="535800" y="770875"/>
            <a:ext cx="768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b="1" sz="2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2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17" name="Google Shape;117;p22"/>
          <p:cNvCxnSpPr/>
          <p:nvPr/>
        </p:nvCxnSpPr>
        <p:spPr>
          <a:xfrm>
            <a:off x="0" y="39585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24" name="Google Shape;124;p24"/>
          <p:cNvSpPr/>
          <p:nvPr/>
        </p:nvSpPr>
        <p:spPr>
          <a:xfrm>
            <a:off x="0" y="-9600"/>
            <a:ext cx="9220800" cy="51627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2407" y="0"/>
            <a:ext cx="519903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4"/>
          <p:cNvSpPr txBox="1"/>
          <p:nvPr>
            <p:ph type="title"/>
          </p:nvPr>
        </p:nvSpPr>
        <p:spPr>
          <a:xfrm>
            <a:off x="5875550" y="2131950"/>
            <a:ext cx="29757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5875550" y="4257375"/>
            <a:ext cx="27258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b="1"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b="1"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b="1"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b="1"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b="1"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b="1"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b="1"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b="1"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b="1"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24"/>
          <p:cNvSpPr txBox="1"/>
          <p:nvPr>
            <p:ph idx="2" type="body"/>
          </p:nvPr>
        </p:nvSpPr>
        <p:spPr>
          <a:xfrm>
            <a:off x="5875550" y="4561875"/>
            <a:ext cx="27258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b="1"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b="1"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b="1"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b="1"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b="1"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b="1"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b="1"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b="1"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b="1"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9" name="Google Shape;129;p24"/>
          <p:cNvSpPr txBox="1"/>
          <p:nvPr>
            <p:ph idx="3" type="body"/>
          </p:nvPr>
        </p:nvSpPr>
        <p:spPr>
          <a:xfrm>
            <a:off x="5875550" y="4839000"/>
            <a:ext cx="27258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b="1"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b="1"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b="1"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b="1"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b="1"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b="1"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b="1"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b="1"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b="1" sz="1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32" name="Google Shape;132;p25"/>
          <p:cNvSpPr/>
          <p:nvPr/>
        </p:nvSpPr>
        <p:spPr>
          <a:xfrm>
            <a:off x="664600" y="0"/>
            <a:ext cx="3015000" cy="51435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</a:endParaRPr>
          </a:p>
        </p:txBody>
      </p:sp>
      <p:pic>
        <p:nvPicPr>
          <p:cNvPr id="133" name="Google Shape;133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4600" y="2685606"/>
            <a:ext cx="2440551" cy="241446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5"/>
          <p:cNvSpPr txBox="1"/>
          <p:nvPr>
            <p:ph idx="1" type="subTitle"/>
          </p:nvPr>
        </p:nvSpPr>
        <p:spPr>
          <a:xfrm>
            <a:off x="3931725" y="2317800"/>
            <a:ext cx="4929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Text(A ver.)" type="tx">
  <p:cSld name="TITLE_AND_BOD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37" name="Google Shape;137;p26"/>
          <p:cNvSpPr txBox="1"/>
          <p:nvPr>
            <p:ph idx="1" type="body"/>
          </p:nvPr>
        </p:nvSpPr>
        <p:spPr>
          <a:xfrm>
            <a:off x="535800" y="1577600"/>
            <a:ext cx="8118900" cy="22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8" name="Google Shape;138;p26"/>
          <p:cNvSpPr txBox="1"/>
          <p:nvPr>
            <p:ph idx="2" type="subTitle"/>
          </p:nvPr>
        </p:nvSpPr>
        <p:spPr>
          <a:xfrm>
            <a:off x="535800" y="770875"/>
            <a:ext cx="768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b="1" sz="2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6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40" name="Google Shape;140;p26"/>
          <p:cNvCxnSpPr/>
          <p:nvPr/>
        </p:nvCxnSpPr>
        <p:spPr>
          <a:xfrm>
            <a:off x="0" y="39585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Text(B ver.)" type="twoColTx">
  <p:cSld name="TITLE_AND_TWO_COLUMNS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43" name="Google Shape;143;p27"/>
          <p:cNvSpPr/>
          <p:nvPr/>
        </p:nvSpPr>
        <p:spPr>
          <a:xfrm>
            <a:off x="0" y="0"/>
            <a:ext cx="9144000" cy="3033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44" name="Google Shape;144;p27"/>
          <p:cNvSpPr txBox="1"/>
          <p:nvPr>
            <p:ph idx="1" type="body"/>
          </p:nvPr>
        </p:nvSpPr>
        <p:spPr>
          <a:xfrm>
            <a:off x="535800" y="1577600"/>
            <a:ext cx="8118900" cy="22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5" name="Google Shape;145;p27"/>
          <p:cNvSpPr txBox="1"/>
          <p:nvPr>
            <p:ph idx="2" type="subTitle"/>
          </p:nvPr>
        </p:nvSpPr>
        <p:spPr>
          <a:xfrm>
            <a:off x="535800" y="770875"/>
            <a:ext cx="768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b="1" sz="2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Text(B ver.) 1">
  <p:cSld name="TITLE_AND_TWO_COLUMNS_1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50" name="Google Shape;150;p29"/>
          <p:cNvSpPr/>
          <p:nvPr/>
        </p:nvSpPr>
        <p:spPr>
          <a:xfrm>
            <a:off x="0" y="0"/>
            <a:ext cx="9144000" cy="3033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Text(B ver.) 2">
  <p:cSld name="TITLE_AND_TWO_COLUMNS_2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53" name="Google Shape;153;p30"/>
          <p:cNvSpPr/>
          <p:nvPr/>
        </p:nvSpPr>
        <p:spPr>
          <a:xfrm>
            <a:off x="0" y="0"/>
            <a:ext cx="9144000" cy="3033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54" name="Google Shape;154;p30"/>
          <p:cNvSpPr txBox="1"/>
          <p:nvPr>
            <p:ph type="title"/>
          </p:nvPr>
        </p:nvSpPr>
        <p:spPr>
          <a:xfrm>
            <a:off x="538225" y="776500"/>
            <a:ext cx="76773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b="1" sz="2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Text(B ver.) 3">
  <p:cSld name="TITLE_AND_TWO_COLUMNS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57" name="Google Shape;157;p31"/>
          <p:cNvSpPr/>
          <p:nvPr/>
        </p:nvSpPr>
        <p:spPr>
          <a:xfrm>
            <a:off x="0" y="0"/>
            <a:ext cx="9144000" cy="3033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58" name="Google Shape;158;p31"/>
          <p:cNvSpPr txBox="1"/>
          <p:nvPr>
            <p:ph type="title"/>
          </p:nvPr>
        </p:nvSpPr>
        <p:spPr>
          <a:xfrm>
            <a:off x="538225" y="776500"/>
            <a:ext cx="76773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b="1" sz="2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161" name="Google Shape;161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2" name="Google Shape;162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Text(A ver.) 1">
  <p:cSld name="TITLE_AND_BODY_1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65" name="Google Shape;165;p33"/>
          <p:cNvSpPr txBox="1"/>
          <p:nvPr>
            <p:ph idx="1" type="body"/>
          </p:nvPr>
        </p:nvSpPr>
        <p:spPr>
          <a:xfrm>
            <a:off x="535800" y="1577600"/>
            <a:ext cx="8118900" cy="22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6" name="Google Shape;166;p33"/>
          <p:cNvSpPr txBox="1"/>
          <p:nvPr>
            <p:ph idx="2" type="subTitle"/>
          </p:nvPr>
        </p:nvSpPr>
        <p:spPr>
          <a:xfrm>
            <a:off x="535800" y="770875"/>
            <a:ext cx="768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b="1" sz="2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3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68" name="Google Shape;168;p33"/>
          <p:cNvCxnSpPr/>
          <p:nvPr/>
        </p:nvCxnSpPr>
        <p:spPr>
          <a:xfrm>
            <a:off x="0" y="39585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Text(A ver.) 1 1">
  <p:cSld name="TITLE_AND_BODY_2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171" name="Google Shape;171;p34"/>
          <p:cNvCxnSpPr/>
          <p:nvPr/>
        </p:nvCxnSpPr>
        <p:spPr>
          <a:xfrm>
            <a:off x="0" y="39585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174" name="Google Shape;174;p3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5" name="Google Shape;175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3">
  <p:cSld name="TITLE_3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178" name="Google Shape;178;p3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9" name="Google Shape;17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Text(A ver.) 1 2">
  <p:cSld name="1_ Text(A ver.)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82" name="Google Shape;182;p37"/>
          <p:cNvSpPr txBox="1"/>
          <p:nvPr>
            <p:ph idx="1" type="body"/>
          </p:nvPr>
        </p:nvSpPr>
        <p:spPr>
          <a:xfrm>
            <a:off x="535800" y="1577600"/>
            <a:ext cx="8118900" cy="22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3" name="Google Shape;183;p37"/>
          <p:cNvSpPr txBox="1"/>
          <p:nvPr>
            <p:ph idx="2" type="subTitle"/>
          </p:nvPr>
        </p:nvSpPr>
        <p:spPr>
          <a:xfrm>
            <a:off x="535800" y="770875"/>
            <a:ext cx="768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1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4" name="Google Shape;184;p37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85" name="Google Shape;185;p37"/>
          <p:cNvCxnSpPr/>
          <p:nvPr/>
        </p:nvCxnSpPr>
        <p:spPr>
          <a:xfrm>
            <a:off x="0" y="39585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Text(A ver.) 16">
  <p:cSld name="TITLE_AND_BODY_17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88" name="Google Shape;188;p38"/>
          <p:cNvSpPr txBox="1"/>
          <p:nvPr>
            <p:ph idx="1" type="body"/>
          </p:nvPr>
        </p:nvSpPr>
        <p:spPr>
          <a:xfrm>
            <a:off x="535800" y="1577600"/>
            <a:ext cx="8118900" cy="22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9" name="Google Shape;189;p38"/>
          <p:cNvSpPr txBox="1"/>
          <p:nvPr>
            <p:ph idx="2" type="subTitle"/>
          </p:nvPr>
        </p:nvSpPr>
        <p:spPr>
          <a:xfrm>
            <a:off x="535800" y="770875"/>
            <a:ext cx="768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1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0" name="Google Shape;190;p38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91" name="Google Shape;191;p38"/>
          <p:cNvCxnSpPr/>
          <p:nvPr/>
        </p:nvCxnSpPr>
        <p:spPr>
          <a:xfrm>
            <a:off x="0" y="39585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Text(B ver.) 4">
  <p:cSld name="TITLE_AND_TWO_COLUMNS_4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94" name="Google Shape;194;p39"/>
          <p:cNvSpPr/>
          <p:nvPr/>
        </p:nvSpPr>
        <p:spPr>
          <a:xfrm>
            <a:off x="0" y="0"/>
            <a:ext cx="9144000" cy="3033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Text(A ver.) 24">
  <p:cSld name="TITLE_AND_BODY_25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97" name="Google Shape;197;p40"/>
          <p:cNvSpPr txBox="1"/>
          <p:nvPr>
            <p:ph idx="1" type="body"/>
          </p:nvPr>
        </p:nvSpPr>
        <p:spPr>
          <a:xfrm>
            <a:off x="535800" y="1577600"/>
            <a:ext cx="8118900" cy="22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8" name="Google Shape;198;p40"/>
          <p:cNvSpPr txBox="1"/>
          <p:nvPr>
            <p:ph idx="2" type="subTitle"/>
          </p:nvPr>
        </p:nvSpPr>
        <p:spPr>
          <a:xfrm>
            <a:off x="535800" y="770875"/>
            <a:ext cx="768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b="1" sz="2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40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00" name="Google Shape;200;p40"/>
          <p:cNvCxnSpPr/>
          <p:nvPr/>
        </p:nvCxnSpPr>
        <p:spPr>
          <a:xfrm>
            <a:off x="0" y="39585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Text(B ver.) 5">
  <p:cSld name="TITLE_AND_TWO_COLUMNS_5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03" name="Google Shape;203;p41"/>
          <p:cNvSpPr/>
          <p:nvPr/>
        </p:nvSpPr>
        <p:spPr>
          <a:xfrm>
            <a:off x="0" y="0"/>
            <a:ext cx="9144000" cy="3033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04" name="Google Shape;204;p41"/>
          <p:cNvSpPr txBox="1"/>
          <p:nvPr>
            <p:ph type="title"/>
          </p:nvPr>
        </p:nvSpPr>
        <p:spPr>
          <a:xfrm>
            <a:off x="538225" y="776500"/>
            <a:ext cx="76773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b="1" sz="2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Text(B ver.) 2 3">
  <p:cSld name="TITLE_AND_TWO_COLUMNS_2_3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07" name="Google Shape;207;p42"/>
          <p:cNvSpPr/>
          <p:nvPr/>
        </p:nvSpPr>
        <p:spPr>
          <a:xfrm>
            <a:off x="0" y="0"/>
            <a:ext cx="9144000" cy="3033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08" name="Google Shape;208;p42"/>
          <p:cNvSpPr txBox="1"/>
          <p:nvPr>
            <p:ph type="title"/>
          </p:nvPr>
        </p:nvSpPr>
        <p:spPr>
          <a:xfrm>
            <a:off x="538225" y="776500"/>
            <a:ext cx="76773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b="1" sz="2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37.xml"/><Relationship Id="rId5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40.xml"/><Relationship Id="rId6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9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7" name="Google Shape;7;p1"/>
          <p:cNvSpPr txBox="1"/>
          <p:nvPr/>
        </p:nvSpPr>
        <p:spPr>
          <a:xfrm>
            <a:off x="5875550" y="4257375"/>
            <a:ext cx="27258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2021.09.10</a:t>
            </a:r>
            <a:endParaRPr b="1" sz="1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brand &amp; marketing</a:t>
            </a:r>
            <a:endParaRPr b="1" sz="1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17LIVE Japan inc.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8" name="Google Shape;8;p1"/>
          <p:cNvSpPr txBox="1"/>
          <p:nvPr/>
        </p:nvSpPr>
        <p:spPr>
          <a:xfrm>
            <a:off x="5875550" y="2131950"/>
            <a:ext cx="30147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chemeClr val="lt1"/>
                </a:solidFill>
              </a:rPr>
              <a:t>abcdefghijklmnopqrstuvwxyz</a:t>
            </a:r>
            <a:endParaRPr b="1" sz="2100">
              <a:solidFill>
                <a:schemeClr val="lt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20" name="Google Shape;120;p23"/>
          <p:cNvSpPr txBox="1"/>
          <p:nvPr/>
        </p:nvSpPr>
        <p:spPr>
          <a:xfrm>
            <a:off x="5875550" y="4257375"/>
            <a:ext cx="27258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2021.09.10</a:t>
            </a:r>
            <a:endParaRPr b="1" sz="1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brand &amp; marketing</a:t>
            </a:r>
            <a:endParaRPr b="1" sz="1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17LIVE Japan inc.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121" name="Google Shape;121;p23"/>
          <p:cNvSpPr txBox="1"/>
          <p:nvPr/>
        </p:nvSpPr>
        <p:spPr>
          <a:xfrm>
            <a:off x="5875550" y="2131950"/>
            <a:ext cx="30147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chemeClr val="lt1"/>
                </a:solidFill>
              </a:rPr>
              <a:t>abcdefghijklmnopqrstuvwxyz</a:t>
            </a:r>
            <a:endParaRPr b="1" sz="2100">
              <a:solidFill>
                <a:schemeClr val="lt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google.com/presentation/d/1QNVBpP5o_Z0-MMkaENo3oXelhCmbx6McBD0PiPRKUo8/edit?slide=id.p#slide=id.p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forms.gle/PFBnz5ZFVfYGTLMv9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17media.slack.com/team/U05ULT1HMBR" TargetMode="External"/><Relationship Id="rId4" Type="http://schemas.openxmlformats.org/officeDocument/2006/relationships/hyperlink" Target="https://17media.slack.com/archives/C0PAD7W5R/p1769935583959419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ocs.google.com/presentation/d/1QNVBpP5o_Z0-MMkaENo3oXelhCmbx6McBD0PiPRKUo8/edit?slide=id.p#slide=id.p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17media.slack.com/team/U05ULT1HMBR" TargetMode="External"/><Relationship Id="rId4" Type="http://schemas.openxmlformats.org/officeDocument/2006/relationships/hyperlink" Target="https://17media.slack.com/archives/C0PAD7W5R/p1769935583959419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docs.google.com/presentation/d/1QNVBpP5o_Z0-MMkaENo3oXelhCmbx6McBD0PiPRKUo8/edit?slide=id.p#slide=id.p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17media.slack.com/team/U05ULT1HMBR" TargetMode="External"/><Relationship Id="rId4" Type="http://schemas.openxmlformats.org/officeDocument/2006/relationships/hyperlink" Target="https://17media.slack.com/archives/C0PAD7W5R/p1769935583959419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3"/>
          <p:cNvSpPr txBox="1"/>
          <p:nvPr/>
        </p:nvSpPr>
        <p:spPr>
          <a:xfrm>
            <a:off x="5494550" y="2123925"/>
            <a:ext cx="34932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CTO Prize Hackathon 2026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lt1"/>
                </a:solidFill>
              </a:rPr>
              <a:t>Empower Every Employee with AI</a:t>
            </a:r>
            <a:endParaRPr b="1" i="1">
              <a:solidFill>
                <a:schemeClr val="lt1"/>
              </a:solidFill>
            </a:endParaRPr>
          </a:p>
        </p:txBody>
      </p:sp>
      <p:sp>
        <p:nvSpPr>
          <p:cNvPr id="214" name="Google Shape;214;p43"/>
          <p:cNvSpPr txBox="1"/>
          <p:nvPr/>
        </p:nvSpPr>
        <p:spPr>
          <a:xfrm>
            <a:off x="5875550" y="4257375"/>
            <a:ext cx="27258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2026.H1</a:t>
            </a:r>
            <a:endParaRPr b="1" sz="1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JS</a:t>
            </a:r>
            <a:endParaRPr b="1" sz="1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17LIVE CTO</a:t>
            </a:r>
            <a:endParaRPr b="1" sz="1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4"/>
          <p:cNvSpPr txBox="1"/>
          <p:nvPr>
            <p:ph idx="2" type="subTitle"/>
          </p:nvPr>
        </p:nvSpPr>
        <p:spPr>
          <a:xfrm>
            <a:off x="231000" y="542275"/>
            <a:ext cx="87441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Why CTO Prize?</a:t>
            </a:r>
            <a:endParaRPr/>
          </a:p>
        </p:txBody>
      </p:sp>
      <p:sp>
        <p:nvSpPr>
          <p:cNvPr id="220" name="Google Shape;220;p44"/>
          <p:cNvSpPr txBox="1"/>
          <p:nvPr>
            <p:ph idx="1" type="body"/>
          </p:nvPr>
        </p:nvSpPr>
        <p:spPr>
          <a:xfrm>
            <a:off x="220625" y="1175900"/>
            <a:ext cx="7609200" cy="3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2"/>
                </a:solidFill>
                <a:highlight>
                  <a:schemeClr val="lt1"/>
                </a:highlight>
              </a:rPr>
              <a:t>Vision</a:t>
            </a:r>
            <a:endParaRPr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ja" sz="1200">
                <a:solidFill>
                  <a:schemeClr val="dk2"/>
                </a:solidFill>
              </a:rPr>
              <a:t>Leverage AI and system tools to make the company move </a:t>
            </a:r>
            <a:r>
              <a:rPr b="1" lang="ja" sz="1200">
                <a:solidFill>
                  <a:schemeClr val="dk2"/>
                </a:solidFill>
              </a:rPr>
              <a:t>Faster </a:t>
            </a:r>
            <a:r>
              <a:rPr lang="ja" sz="1200">
                <a:solidFill>
                  <a:schemeClr val="dk2"/>
                </a:solidFill>
              </a:rPr>
              <a:t>and </a:t>
            </a:r>
            <a:r>
              <a:rPr b="1" lang="ja" sz="1200">
                <a:solidFill>
                  <a:schemeClr val="dk2"/>
                </a:solidFill>
              </a:rPr>
              <a:t>Safer</a:t>
            </a:r>
            <a:r>
              <a:rPr lang="ja" sz="1200">
                <a:solidFill>
                  <a:schemeClr val="dk2"/>
                </a:solidFill>
              </a:rPr>
              <a:t>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2"/>
                </a:solidFill>
                <a:highlight>
                  <a:schemeClr val="lt1"/>
                </a:highlight>
              </a:rPr>
              <a:t>Goal</a:t>
            </a:r>
            <a:endParaRPr sz="11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ja" sz="1200">
                <a:solidFill>
                  <a:schemeClr val="dk2"/>
                </a:solidFill>
              </a:rPr>
              <a:t>Turn operational pain points into AI-driven solutions.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2"/>
                </a:solidFill>
                <a:highlight>
                  <a:schemeClr val="lt1"/>
                </a:highlight>
              </a:rPr>
              <a:t>Core Metrics for Success</a:t>
            </a:r>
            <a:endParaRPr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b="1" lang="ja" sz="1200">
                <a:solidFill>
                  <a:schemeClr val="dk2"/>
                </a:solidFill>
              </a:rPr>
              <a:t>Efficiency</a:t>
            </a:r>
            <a:r>
              <a:rPr lang="ja" sz="1200">
                <a:solidFill>
                  <a:schemeClr val="dk2"/>
                </a:solidFill>
              </a:rPr>
              <a:t>: Reduction in manual man-hours per month.</a:t>
            </a:r>
            <a:endParaRPr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b="1" lang="ja" sz="1200">
                <a:solidFill>
                  <a:schemeClr val="dk2"/>
                </a:solidFill>
              </a:rPr>
              <a:t>Accuracy:</a:t>
            </a:r>
            <a:r>
              <a:rPr lang="ja" sz="1200">
                <a:solidFill>
                  <a:schemeClr val="dk2"/>
                </a:solidFill>
              </a:rPr>
              <a:t> Lowering error rates in operational tasks.</a:t>
            </a:r>
            <a:endParaRPr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b="1" lang="ja" sz="1200">
                <a:solidFill>
                  <a:schemeClr val="dk2"/>
                </a:solidFill>
              </a:rPr>
              <a:t>Speed:</a:t>
            </a:r>
            <a:r>
              <a:rPr lang="ja" sz="1200">
                <a:solidFill>
                  <a:schemeClr val="dk2"/>
                </a:solidFill>
              </a:rPr>
              <a:t> Faster turnaround for repetitive technical or business processes.</a:t>
            </a:r>
            <a:endParaRPr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b="1" lang="ja" sz="1200">
                <a:solidFill>
                  <a:schemeClr val="dk2"/>
                </a:solidFill>
              </a:rPr>
              <a:t>Saving:</a:t>
            </a:r>
            <a:r>
              <a:rPr lang="ja" sz="1200">
                <a:solidFill>
                  <a:schemeClr val="dk2"/>
                </a:solidFill>
              </a:rPr>
              <a:t> Reduce cloud, vendor, or operational costs.</a:t>
            </a:r>
            <a:endParaRPr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b="1" lang="ja" sz="1200">
                <a:solidFill>
                  <a:schemeClr val="dk2"/>
                </a:solidFill>
              </a:rPr>
              <a:t>Coordination:</a:t>
            </a:r>
            <a:r>
              <a:rPr lang="ja" sz="1200">
                <a:solidFill>
                  <a:schemeClr val="dk2"/>
                </a:solidFill>
              </a:rPr>
              <a:t> Improve cross-team workflows.</a:t>
            </a:r>
            <a:endParaRPr b="1" sz="1600">
              <a:solidFill>
                <a:schemeClr val="dk2"/>
              </a:solidFill>
            </a:endParaRPr>
          </a:p>
        </p:txBody>
      </p:sp>
      <p:sp>
        <p:nvSpPr>
          <p:cNvPr id="221" name="Google Shape;221;p44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CTO Prize Hackathon 2026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5"/>
          <p:cNvSpPr txBox="1"/>
          <p:nvPr>
            <p:ph idx="2" type="subTitle"/>
          </p:nvPr>
        </p:nvSpPr>
        <p:spPr>
          <a:xfrm>
            <a:off x="231000" y="542275"/>
            <a:ext cx="87441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Competition Rules &amp; Participation</a:t>
            </a:r>
            <a:endParaRPr/>
          </a:p>
        </p:txBody>
      </p:sp>
      <p:sp>
        <p:nvSpPr>
          <p:cNvPr id="227" name="Google Shape;227;p45"/>
          <p:cNvSpPr txBox="1"/>
          <p:nvPr>
            <p:ph idx="1" type="body"/>
          </p:nvPr>
        </p:nvSpPr>
        <p:spPr>
          <a:xfrm>
            <a:off x="220625" y="1175900"/>
            <a:ext cx="7609200" cy="3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>
                <a:solidFill>
                  <a:schemeClr val="dk2"/>
                </a:solidFill>
                <a:highlight>
                  <a:schemeClr val="lt1"/>
                </a:highlight>
              </a:rPr>
              <a:t>Eiligibility</a:t>
            </a:r>
            <a:endParaRPr sz="1200">
              <a:solidFill>
                <a:schemeClr val="dk2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ja" sz="1200">
                <a:solidFill>
                  <a:schemeClr val="dk2"/>
                </a:solidFill>
              </a:rPr>
              <a:t>Open to all full-time employees.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2"/>
                </a:solidFill>
                <a:highlight>
                  <a:schemeClr val="lt1"/>
                </a:highlight>
              </a:rPr>
              <a:t>Team Format</a:t>
            </a:r>
            <a:endParaRPr sz="1200">
              <a:solidFill>
                <a:schemeClr val="dk2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ja" sz="1200">
                <a:solidFill>
                  <a:schemeClr val="dk2"/>
                </a:solidFill>
              </a:rPr>
              <a:t>1-5 members per team. </a:t>
            </a:r>
            <a:endParaRPr sz="1200">
              <a:solidFill>
                <a:schemeClr val="dk2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ja" sz="1200">
                <a:solidFill>
                  <a:schemeClr val="dk2"/>
                </a:solidFill>
              </a:rPr>
              <a:t>Cross-region &amp; Cross-functional collaboration (Ops + Tech) is highly encouraged.</a:t>
            </a:r>
            <a:endParaRPr sz="1200">
              <a:solidFill>
                <a:schemeClr val="dk2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ja" sz="1200">
                <a:solidFill>
                  <a:schemeClr val="dk2"/>
                </a:solidFill>
              </a:rPr>
              <a:t>Mentors and tech supports are provided.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 u="sng">
                <a:solidFill>
                  <a:schemeClr val="hlink"/>
                </a:solidFill>
                <a:hlinkClick r:id="rId3"/>
              </a:rPr>
              <a:t>Sample Case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228" name="Google Shape;228;p45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CTO Prize Hackathon 2026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6"/>
          <p:cNvSpPr/>
          <p:nvPr/>
        </p:nvSpPr>
        <p:spPr>
          <a:xfrm>
            <a:off x="145673" y="3136220"/>
            <a:ext cx="8575500" cy="1814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46"/>
          <p:cNvSpPr txBox="1"/>
          <p:nvPr>
            <p:ph idx="2" type="subTitle"/>
          </p:nvPr>
        </p:nvSpPr>
        <p:spPr>
          <a:xfrm>
            <a:off x="231000" y="542275"/>
            <a:ext cx="87441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</a:rPr>
              <a:t>Phase 1: </a:t>
            </a:r>
            <a:r>
              <a:rPr lang="ja">
                <a:solidFill>
                  <a:srgbClr val="FF0000"/>
                </a:solidFill>
              </a:rPr>
              <a:t>Apr 15th</a:t>
            </a:r>
            <a:r>
              <a:rPr lang="ja">
                <a:solidFill>
                  <a:schemeClr val="dk1"/>
                </a:solidFill>
              </a:rPr>
              <a:t> POC Demo Day - Rules &amp; Scoring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5" name="Google Shape;235;p46"/>
          <p:cNvSpPr txBox="1"/>
          <p:nvPr>
            <p:ph idx="1" type="body"/>
          </p:nvPr>
        </p:nvSpPr>
        <p:spPr>
          <a:xfrm>
            <a:off x="231000" y="937272"/>
            <a:ext cx="8798400" cy="41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>
                <a:solidFill>
                  <a:schemeClr val="dk2"/>
                </a:solidFill>
              </a:rPr>
              <a:t>Submission Requirements</a:t>
            </a:r>
            <a:endParaRPr b="1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Identify the Pain Point:</a:t>
            </a:r>
            <a:r>
              <a:rPr lang="ja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Clearly define the operational bottleneck or manual task you aim to solve.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Showcase the Solution:</a:t>
            </a:r>
            <a:r>
              <a:rPr lang="ja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Present your AI automation workflow (demonstrate the logic, integrated tools).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Note: Full integration into live production is not required at this stage.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Define Success Metrics: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Propose clear targets for the Rollout phase (e.g., Man-hours saved, % reduction in human error or cost savings).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>
                <a:solidFill>
                  <a:schemeClr val="dk2"/>
                </a:solidFill>
              </a:rPr>
              <a:t>Judging Criteria (Phase 1) </a:t>
            </a:r>
            <a:r>
              <a:rPr i="1" lang="ja">
                <a:solidFill>
                  <a:schemeClr val="dk2"/>
                </a:solidFill>
              </a:rPr>
              <a:t>Evaluated by CTO Prize Team &amp; Mentors with 5-star rating:</a:t>
            </a:r>
            <a:endParaRPr b="1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30%  Problem-Solution &amp; Goal Setting:</a:t>
            </a:r>
            <a:r>
              <a:rPr lang="ja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Clarity of the pain point &amp; solution, and the precision of your target KPIs.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30%  Workflow Completeness:</a:t>
            </a:r>
            <a:r>
              <a:rPr lang="ja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Completeness and logic of the automation workflow.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40%  Company Voting: </a:t>
            </a:r>
            <a:endParaRPr b="1"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Please see the next page!!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36" name="Google Shape;236;p46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CTO Prize Hackathon 2026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37" name="Google Shape;237;p46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CTO Prize Hackathon 2026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7"/>
          <p:cNvSpPr/>
          <p:nvPr/>
        </p:nvSpPr>
        <p:spPr>
          <a:xfrm>
            <a:off x="145675" y="3857618"/>
            <a:ext cx="8575500" cy="11475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47"/>
          <p:cNvSpPr txBox="1"/>
          <p:nvPr>
            <p:ph idx="1" type="body"/>
          </p:nvPr>
        </p:nvSpPr>
        <p:spPr>
          <a:xfrm>
            <a:off x="231000" y="1065475"/>
            <a:ext cx="8603400" cy="36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2"/>
                </a:solidFill>
              </a:rPr>
              <a:t>To ensure everyone has a chance to see the amazing AI solutions, we are kicking off the </a:t>
            </a:r>
            <a:r>
              <a:rPr b="1" lang="ja" sz="1200">
                <a:solidFill>
                  <a:schemeClr val="dk2"/>
                </a:solidFill>
              </a:rPr>
              <a:t>Company Voting</a:t>
            </a:r>
            <a:r>
              <a:rPr lang="ja" sz="1200">
                <a:solidFill>
                  <a:schemeClr val="dk2"/>
                </a:solidFill>
              </a:rPr>
              <a:t> event!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Submission Requirement:</a:t>
            </a:r>
            <a:r>
              <a:rPr lang="ja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Each team must submit a </a:t>
            </a:r>
            <a:r>
              <a:rPr b="1" lang="ja" sz="1200">
                <a:solidFill>
                  <a:schemeClr val="dk2"/>
                </a:solidFill>
              </a:rPr>
              <a:t>short demo video</a:t>
            </a:r>
            <a:r>
              <a:rPr lang="ja" sz="1200">
                <a:solidFill>
                  <a:schemeClr val="dk2"/>
                </a:solidFill>
              </a:rPr>
              <a:t> (3-5 mins) and a </a:t>
            </a:r>
            <a:r>
              <a:rPr b="1" lang="ja" sz="1200">
                <a:solidFill>
                  <a:schemeClr val="dk2"/>
                </a:solidFill>
              </a:rPr>
              <a:t>3-page slide deck</a:t>
            </a:r>
            <a:r>
              <a:rPr lang="ja" sz="1200">
                <a:solidFill>
                  <a:schemeClr val="dk2"/>
                </a:solidFill>
              </a:rPr>
              <a:t>.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Define the Pain Point ⭢ Show the Automation Workflow ⭢ State your Target Metrics.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Voting Window: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b="1" lang="ja" sz="1200">
                <a:solidFill>
                  <a:schemeClr val="dk2"/>
                </a:solidFill>
              </a:rPr>
              <a:t>Starts:</a:t>
            </a:r>
            <a:r>
              <a:rPr lang="ja" sz="1200">
                <a:solidFill>
                  <a:schemeClr val="dk2"/>
                </a:solidFill>
              </a:rPr>
              <a:t> 3 days before Demo Day 1.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b="1" lang="ja" sz="1200">
                <a:solidFill>
                  <a:schemeClr val="dk2"/>
                </a:solidFill>
              </a:rPr>
              <a:t>Ends:</a:t>
            </a:r>
            <a:r>
              <a:rPr lang="ja" sz="1200">
                <a:solidFill>
                  <a:schemeClr val="dk2"/>
                </a:solidFill>
              </a:rPr>
              <a:t> By the end of Demo Day 1 (EOD).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Where to Vote:</a:t>
            </a:r>
            <a:r>
              <a:rPr lang="ja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All entries will be posted in </a:t>
            </a:r>
            <a:r>
              <a:rPr b="1" lang="ja" sz="1200">
                <a:solidFill>
                  <a:schemeClr val="dk2"/>
                </a:solidFill>
              </a:rPr>
              <a:t>#global-announcement</a:t>
            </a:r>
            <a:r>
              <a:rPr lang="ja" sz="1200">
                <a:solidFill>
                  <a:schemeClr val="dk2"/>
                </a:solidFill>
              </a:rPr>
              <a:t>. Please vote for the most impactful AI solution you like!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Scoring Weight: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This company vote accounts for </a:t>
            </a:r>
            <a:r>
              <a:rPr b="1" lang="ja" sz="1200">
                <a:solidFill>
                  <a:schemeClr val="dk2"/>
                </a:solidFill>
              </a:rPr>
              <a:t>40% of your total Phase 1 score</a:t>
            </a:r>
            <a:r>
              <a:rPr lang="ja" sz="1200">
                <a:solidFill>
                  <a:schemeClr val="dk2"/>
                </a:solidFill>
              </a:rPr>
              <a:t>.</a:t>
            </a:r>
            <a:br>
              <a:rPr lang="ja" sz="1200">
                <a:solidFill>
                  <a:schemeClr val="dk2"/>
                </a:solidFill>
              </a:rPr>
            </a:b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2"/>
                </a:solidFill>
              </a:rPr>
              <a:t>Rewards &amp; Selection: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Top 5 teams:</a:t>
            </a:r>
            <a:endParaRPr b="1" sz="1200">
              <a:solidFill>
                <a:schemeClr val="dk2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b="1" lang="ja" sz="1200">
                <a:solidFill>
                  <a:srgbClr val="FF0000"/>
                </a:solidFill>
              </a:rPr>
              <a:t>¥10,000</a:t>
            </a:r>
            <a:r>
              <a:rPr lang="ja" sz="1200">
                <a:solidFill>
                  <a:schemeClr val="dk2"/>
                </a:solidFill>
              </a:rPr>
              <a:t> per team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Top 10 Teams</a:t>
            </a:r>
            <a:r>
              <a:rPr lang="ja" sz="1200">
                <a:solidFill>
                  <a:schemeClr val="dk2"/>
                </a:solidFill>
              </a:rPr>
              <a:t> will advance to the Phase 2 Rollout.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44" name="Google Shape;244;p47"/>
          <p:cNvSpPr txBox="1"/>
          <p:nvPr>
            <p:ph idx="2" type="subTitle"/>
          </p:nvPr>
        </p:nvSpPr>
        <p:spPr>
          <a:xfrm>
            <a:off x="231000" y="542275"/>
            <a:ext cx="87441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</a:rPr>
              <a:t>Phase 1: </a:t>
            </a:r>
            <a:r>
              <a:rPr lang="ja">
                <a:solidFill>
                  <a:srgbClr val="FF0000"/>
                </a:solidFill>
              </a:rPr>
              <a:t>Apr 15th</a:t>
            </a:r>
            <a:r>
              <a:rPr lang="ja">
                <a:solidFill>
                  <a:schemeClr val="dk1"/>
                </a:solidFill>
              </a:rPr>
              <a:t> POC Demo Day - Reward &amp; Selection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5" name="Google Shape;245;p47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CTO Prize Hackathon 2026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8"/>
          <p:cNvSpPr/>
          <p:nvPr/>
        </p:nvSpPr>
        <p:spPr>
          <a:xfrm>
            <a:off x="176875" y="3010166"/>
            <a:ext cx="8575500" cy="18756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48"/>
          <p:cNvSpPr txBox="1"/>
          <p:nvPr>
            <p:ph idx="2" type="subTitle"/>
          </p:nvPr>
        </p:nvSpPr>
        <p:spPr>
          <a:xfrm>
            <a:off x="231000" y="542275"/>
            <a:ext cx="87441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</a:rPr>
              <a:t>Phase 2: </a:t>
            </a:r>
            <a:r>
              <a:rPr lang="ja">
                <a:solidFill>
                  <a:srgbClr val="FF0000"/>
                </a:solidFill>
              </a:rPr>
              <a:t>Jun 17th</a:t>
            </a:r>
            <a:r>
              <a:rPr lang="ja">
                <a:solidFill>
                  <a:schemeClr val="dk1"/>
                </a:solidFill>
              </a:rPr>
              <a:t> Rollout Demo Day - Rules &amp; Scoring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2" name="Google Shape;252;p48"/>
          <p:cNvSpPr txBox="1"/>
          <p:nvPr>
            <p:ph idx="1" type="body"/>
          </p:nvPr>
        </p:nvSpPr>
        <p:spPr>
          <a:xfrm>
            <a:off x="231000" y="1022179"/>
            <a:ext cx="8382300" cy="3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2"/>
                </a:solidFill>
              </a:rPr>
              <a:t>Final Presentation Requirements</a:t>
            </a:r>
            <a:endParaRPr b="1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Implementation Reveal:</a:t>
            </a:r>
            <a:r>
              <a:rPr lang="ja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Demonstrate the actual AI automation tool in action.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Before vs. After:</a:t>
            </a:r>
            <a:r>
              <a:rPr lang="ja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Showcase the workflow transformation and the tangible difference AI has made.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Outcome Validation:</a:t>
            </a:r>
            <a:r>
              <a:rPr lang="ja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Report on the final results—did you meet the Target KPIs set during the POC phase?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2"/>
                </a:solidFill>
              </a:rPr>
              <a:t>Judging Criteria (Phase 2)  </a:t>
            </a:r>
            <a:r>
              <a:rPr i="1" lang="ja">
                <a:solidFill>
                  <a:schemeClr val="dk2"/>
                </a:solidFill>
              </a:rPr>
              <a:t>Evaluated by GMs and C-Level Executives with 5-star rating:</a:t>
            </a:r>
            <a:endParaRPr i="1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30% Ease of Implementation (#respecteveryone):</a:t>
            </a:r>
            <a:r>
              <a:rPr lang="ja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How seamlessly does the solution integrate into daily operations?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40% Effectiveness (#focusongoal):</a:t>
            </a:r>
            <a:r>
              <a:rPr lang="ja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Did the project deliver significant impact and hit its targets?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30% Creativity (#breakthenorm):</a:t>
            </a:r>
            <a:r>
              <a:rPr lang="ja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Does the solution offer an innovative or unconventional approach to the problem?</a:t>
            </a:r>
            <a:endParaRPr b="1" sz="1200">
              <a:solidFill>
                <a:schemeClr val="dk2"/>
              </a:solidFill>
            </a:endParaRPr>
          </a:p>
        </p:txBody>
      </p:sp>
      <p:sp>
        <p:nvSpPr>
          <p:cNvPr id="253" name="Google Shape;253;p48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CTO Prize Hackathon 2026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9"/>
          <p:cNvSpPr txBox="1"/>
          <p:nvPr>
            <p:ph idx="1" type="body"/>
          </p:nvPr>
        </p:nvSpPr>
        <p:spPr>
          <a:xfrm>
            <a:off x="459000" y="1313636"/>
            <a:ext cx="3312600" cy="1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2"/>
                </a:solidFill>
              </a:rPr>
              <a:t>Finalist Awards: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b="1" lang="ja" sz="1200">
                <a:solidFill>
                  <a:schemeClr val="dk2"/>
                </a:solidFill>
              </a:rPr>
              <a:t>Top 3 teams:</a:t>
            </a:r>
            <a:endParaRPr b="1" sz="1200">
              <a:solidFill>
                <a:schemeClr val="dk2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1st Place: </a:t>
            </a:r>
            <a:r>
              <a:rPr b="1" lang="ja" sz="1200">
                <a:solidFill>
                  <a:srgbClr val="FF0000"/>
                </a:solidFill>
              </a:rPr>
              <a:t>¥100,000</a:t>
            </a:r>
            <a:endParaRPr b="1" sz="1200">
              <a:solidFill>
                <a:srgbClr val="FF000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2nd Place:  </a:t>
            </a:r>
            <a:r>
              <a:rPr b="1" lang="ja" sz="1200">
                <a:solidFill>
                  <a:srgbClr val="FF0000"/>
                </a:solidFill>
              </a:rPr>
              <a:t>¥50,000</a:t>
            </a:r>
            <a:endParaRPr b="1" sz="1200">
              <a:solidFill>
                <a:srgbClr val="FF000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3rd Place:   </a:t>
            </a:r>
            <a:r>
              <a:rPr b="1" lang="ja" sz="1200">
                <a:solidFill>
                  <a:srgbClr val="FF0000"/>
                </a:solidFill>
              </a:rPr>
              <a:t>¥30,000</a:t>
            </a:r>
            <a:endParaRPr b="1" sz="1200"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b="1" lang="ja" sz="1200">
                <a:solidFill>
                  <a:schemeClr val="dk2"/>
                </a:solidFill>
              </a:rPr>
              <a:t>Remaining 7 teams:</a:t>
            </a:r>
            <a:r>
              <a:rPr lang="ja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b="1" lang="ja" sz="1200">
                <a:solidFill>
                  <a:srgbClr val="FF0000"/>
                </a:solidFill>
              </a:rPr>
              <a:t>¥10,000</a:t>
            </a:r>
            <a:r>
              <a:rPr lang="ja" sz="1200">
                <a:solidFill>
                  <a:schemeClr val="dk2"/>
                </a:solidFill>
              </a:rPr>
              <a:t> per team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9" name="Google Shape;259;p49"/>
          <p:cNvSpPr txBox="1"/>
          <p:nvPr>
            <p:ph idx="2" type="subTitle"/>
          </p:nvPr>
        </p:nvSpPr>
        <p:spPr>
          <a:xfrm>
            <a:off x="231000" y="542275"/>
            <a:ext cx="87441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</a:rPr>
              <a:t>Phase 2: </a:t>
            </a:r>
            <a:r>
              <a:rPr lang="ja">
                <a:solidFill>
                  <a:srgbClr val="FF0000"/>
                </a:solidFill>
              </a:rPr>
              <a:t>Jun 17th</a:t>
            </a:r>
            <a:r>
              <a:rPr lang="ja">
                <a:solidFill>
                  <a:schemeClr val="dk1"/>
                </a:solidFill>
              </a:rPr>
              <a:t> Rollout Demo Day -  Final Awards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0" name="Google Shape;260;p49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CTO Prize Hackathon 2026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261" name="Google Shape;261;p49" title="前三名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993" y="3358964"/>
            <a:ext cx="3214292" cy="1339277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pic>
      <p:sp>
        <p:nvSpPr>
          <p:cNvPr id="262" name="Google Shape;262;p49"/>
          <p:cNvSpPr/>
          <p:nvPr/>
        </p:nvSpPr>
        <p:spPr>
          <a:xfrm>
            <a:off x="540557" y="4533637"/>
            <a:ext cx="930900" cy="3150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71975" lIns="71975" spcFirstLastPara="1" rIns="71975" wrap="square" tIns="71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2">
                <a:solidFill>
                  <a:schemeClr val="lt1"/>
                </a:solidFill>
              </a:rPr>
              <a:t>¥100,000</a:t>
            </a:r>
            <a:endParaRPr b="1" sz="1202">
              <a:solidFill>
                <a:schemeClr val="lt1"/>
              </a:solidFill>
            </a:endParaRPr>
          </a:p>
        </p:txBody>
      </p:sp>
      <p:sp>
        <p:nvSpPr>
          <p:cNvPr id="263" name="Google Shape;263;p49"/>
          <p:cNvSpPr/>
          <p:nvPr/>
        </p:nvSpPr>
        <p:spPr>
          <a:xfrm>
            <a:off x="1600732" y="4533637"/>
            <a:ext cx="930900" cy="3150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>
            <a:noFill/>
          </a:ln>
        </p:spPr>
        <p:txBody>
          <a:bodyPr anchorCtr="0" anchor="ctr" bIns="71975" lIns="71975" spcFirstLastPara="1" rIns="71975" wrap="square" tIns="71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2">
                <a:solidFill>
                  <a:schemeClr val="lt1"/>
                </a:solidFill>
              </a:rPr>
              <a:t>¥50,000</a:t>
            </a:r>
            <a:endParaRPr b="1" sz="1202">
              <a:solidFill>
                <a:schemeClr val="lt1"/>
              </a:solidFill>
            </a:endParaRPr>
          </a:p>
        </p:txBody>
      </p:sp>
      <p:sp>
        <p:nvSpPr>
          <p:cNvPr id="264" name="Google Shape;264;p49"/>
          <p:cNvSpPr/>
          <p:nvPr/>
        </p:nvSpPr>
        <p:spPr>
          <a:xfrm>
            <a:off x="2660926" y="4533637"/>
            <a:ext cx="930900" cy="3150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>
            <a:noFill/>
          </a:ln>
        </p:spPr>
        <p:txBody>
          <a:bodyPr anchorCtr="0" anchor="ctr" bIns="71975" lIns="71975" spcFirstLastPara="1" rIns="71975" wrap="square" tIns="71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2">
                <a:solidFill>
                  <a:schemeClr val="lt1"/>
                </a:solidFill>
              </a:rPr>
              <a:t>¥30,000</a:t>
            </a:r>
            <a:endParaRPr b="1" sz="1202">
              <a:solidFill>
                <a:schemeClr val="lt1"/>
              </a:solidFill>
            </a:endParaRPr>
          </a:p>
        </p:txBody>
      </p:sp>
      <p:sp>
        <p:nvSpPr>
          <p:cNvPr id="265" name="Google Shape;265;p49"/>
          <p:cNvSpPr txBox="1"/>
          <p:nvPr>
            <p:ph idx="1" type="body"/>
          </p:nvPr>
        </p:nvSpPr>
        <p:spPr>
          <a:xfrm>
            <a:off x="4572000" y="1313636"/>
            <a:ext cx="4187100" cy="33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2"/>
                </a:solidFill>
              </a:rPr>
              <a:t>Special Awards</a:t>
            </a:r>
            <a:r>
              <a:rPr lang="ja">
                <a:solidFill>
                  <a:schemeClr val="dk2"/>
                </a:solidFill>
              </a:rPr>
              <a:t>: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b="1" lang="ja" sz="1200">
                <a:solidFill>
                  <a:schemeClr val="dk2"/>
                </a:solidFill>
              </a:rPr>
              <a:t>Best Non-Product Domain Award</a:t>
            </a:r>
            <a:r>
              <a:rPr lang="ja" sz="1200">
                <a:solidFill>
                  <a:schemeClr val="dk2"/>
                </a:solidFill>
              </a:rPr>
              <a:t>: </a:t>
            </a:r>
            <a:endParaRPr sz="1200"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b="1" lang="ja" sz="1200">
                <a:solidFill>
                  <a:srgbClr val="FF0000"/>
                </a:solidFill>
              </a:rPr>
              <a:t>¥20,000</a:t>
            </a:r>
            <a:r>
              <a:rPr lang="ja" sz="1200">
                <a:solidFill>
                  <a:schemeClr val="dk2"/>
                </a:solidFill>
              </a:rPr>
              <a:t> (only 1 team)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b="1" lang="ja" sz="1200">
                <a:solidFill>
                  <a:schemeClr val="dk2"/>
                </a:solidFill>
              </a:rPr>
              <a:t>Top Mentor Prize</a:t>
            </a:r>
            <a:r>
              <a:rPr lang="ja" sz="1200">
                <a:solidFill>
                  <a:schemeClr val="dk2"/>
                </a:solidFill>
              </a:rPr>
              <a:t>: </a:t>
            </a:r>
            <a:endParaRPr sz="1200"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b="1" lang="ja" sz="1200">
                <a:solidFill>
                  <a:srgbClr val="FF0000"/>
                </a:solidFill>
              </a:rPr>
              <a:t>¥20,000</a:t>
            </a:r>
            <a:r>
              <a:rPr lang="ja" sz="1200">
                <a:solidFill>
                  <a:schemeClr val="dk2"/>
                </a:solidFill>
              </a:rPr>
              <a:t> (only 1 mentor)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0"/>
          <p:cNvSpPr txBox="1"/>
          <p:nvPr>
            <p:ph idx="2" type="subTitle"/>
          </p:nvPr>
        </p:nvSpPr>
        <p:spPr>
          <a:xfrm>
            <a:off x="231000" y="542275"/>
            <a:ext cx="87441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Road to Innovation (Timeline)</a:t>
            </a:r>
            <a:endParaRPr/>
          </a:p>
        </p:txBody>
      </p:sp>
      <p:sp>
        <p:nvSpPr>
          <p:cNvPr id="271" name="Google Shape;271;p50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</a:rPr>
              <a:t>CTO Prize Hackathon 2026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2" name="Google Shape;272;p50"/>
          <p:cNvSpPr/>
          <p:nvPr/>
        </p:nvSpPr>
        <p:spPr>
          <a:xfrm>
            <a:off x="286350" y="1551500"/>
            <a:ext cx="2615100" cy="19524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50"/>
          <p:cNvSpPr txBox="1"/>
          <p:nvPr/>
        </p:nvSpPr>
        <p:spPr>
          <a:xfrm>
            <a:off x="535800" y="1151300"/>
            <a:ext cx="81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50"/>
          <p:cNvSpPr/>
          <p:nvPr/>
        </p:nvSpPr>
        <p:spPr>
          <a:xfrm>
            <a:off x="286350" y="1151300"/>
            <a:ext cx="5690100" cy="4002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lt1"/>
                </a:solidFill>
              </a:rPr>
              <a:t>Phase 1 (POC)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75" name="Google Shape;275;p50"/>
          <p:cNvSpPr/>
          <p:nvPr/>
        </p:nvSpPr>
        <p:spPr>
          <a:xfrm>
            <a:off x="6468350" y="1151300"/>
            <a:ext cx="2269200" cy="4002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lt1"/>
                </a:solidFill>
              </a:rPr>
              <a:t>Phase 2 (Rollout)</a:t>
            </a:r>
            <a:endParaRPr b="1">
              <a:solidFill>
                <a:schemeClr val="lt1"/>
              </a:solidFill>
            </a:endParaRPr>
          </a:p>
        </p:txBody>
      </p:sp>
      <p:graphicFrame>
        <p:nvGraphicFramePr>
          <p:cNvPr id="276" name="Google Shape;276;p50"/>
          <p:cNvGraphicFramePr/>
          <p:nvPr/>
        </p:nvGraphicFramePr>
        <p:xfrm>
          <a:off x="510587" y="16986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{22A3B9CE-418E-434F-BF71-414BA2EF0C03}</a:tableStyleId>
              </a:tblPr>
              <a:tblGrid>
                <a:gridCol w="2195575"/>
              </a:tblGrid>
              <a:tr h="361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>
                          <a:solidFill>
                            <a:schemeClr val="dk2"/>
                          </a:solidFill>
                        </a:rPr>
                        <a:t>Mar/B - Mar/M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2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chemeClr val="dk2"/>
                          </a:solidFill>
                        </a:rPr>
                        <a:t>Workshop 1 (Mar 5th)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ja" sz="1200">
                          <a:solidFill>
                            <a:schemeClr val="dk2"/>
                          </a:solidFill>
                        </a:rPr>
                        <a:t>AI Tools Introduction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chemeClr val="dk2"/>
                          </a:solidFill>
                        </a:rPr>
                        <a:t>Workshop 2  (Mar 12th)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ja" sz="1200">
                          <a:solidFill>
                            <a:schemeClr val="dk2"/>
                          </a:solidFill>
                        </a:rPr>
                        <a:t>Pain Point &amp; Idea Surgery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7" name="Google Shape;277;p50"/>
          <p:cNvSpPr/>
          <p:nvPr/>
        </p:nvSpPr>
        <p:spPr>
          <a:xfrm>
            <a:off x="3040666" y="3401447"/>
            <a:ext cx="312600" cy="258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50"/>
          <p:cNvSpPr/>
          <p:nvPr/>
        </p:nvSpPr>
        <p:spPr>
          <a:xfrm>
            <a:off x="5976525" y="3401447"/>
            <a:ext cx="312600" cy="258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79" name="Google Shape;279;p50"/>
          <p:cNvGraphicFramePr/>
          <p:nvPr/>
        </p:nvGraphicFramePr>
        <p:xfrm>
          <a:off x="3577962" y="16986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{22A3B9CE-418E-434F-BF71-414BA2EF0C03}</a:tableStyleId>
              </a:tblPr>
              <a:tblGrid>
                <a:gridCol w="2195575"/>
              </a:tblGrid>
              <a:tr h="464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>
                          <a:solidFill>
                            <a:schemeClr val="dk2"/>
                          </a:solidFill>
                        </a:rPr>
                        <a:t>Mar/M - Apr/M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0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chemeClr val="dk2"/>
                          </a:solidFill>
                        </a:rPr>
                        <a:t>Workshop 3</a:t>
                      </a:r>
                      <a:r>
                        <a:rPr lang="ja">
                          <a:solidFill>
                            <a:schemeClr val="dk2"/>
                          </a:solidFill>
                        </a:rPr>
                        <a:t> </a:t>
                      </a:r>
                      <a:r>
                        <a:rPr b="1" lang="ja">
                          <a:solidFill>
                            <a:schemeClr val="dk2"/>
                          </a:solidFill>
                        </a:rPr>
                        <a:t>(Mar 19th)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ja" sz="1200">
                          <a:solidFill>
                            <a:schemeClr val="dk2"/>
                          </a:solidFill>
                        </a:rPr>
                        <a:t>AI Tools Education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chemeClr val="dk2"/>
                          </a:solidFill>
                        </a:rPr>
                        <a:t>Workshop 4 (~Apr 14th)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ja" sz="1200">
                          <a:solidFill>
                            <a:schemeClr val="dk2"/>
                          </a:solidFill>
                        </a:rPr>
                        <a:t>Prototyping with mentors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80" name="Google Shape;280;p50"/>
          <p:cNvGraphicFramePr/>
          <p:nvPr/>
        </p:nvGraphicFramePr>
        <p:xfrm>
          <a:off x="6537837" y="16986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{22A3B9CE-418E-434F-BF71-414BA2EF0C03}</a:tableStyleId>
              </a:tblPr>
              <a:tblGrid>
                <a:gridCol w="2034575"/>
              </a:tblGrid>
              <a:tr h="464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>
                          <a:solidFill>
                            <a:schemeClr val="dk2"/>
                          </a:solidFill>
                        </a:rPr>
                        <a:t>Apr</a:t>
                      </a:r>
                      <a:r>
                        <a:rPr b="1" lang="ja">
                          <a:solidFill>
                            <a:schemeClr val="dk2"/>
                          </a:solidFill>
                        </a:rPr>
                        <a:t>/M - Jun/M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0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chemeClr val="dk2"/>
                          </a:solidFill>
                        </a:rPr>
                        <a:t>Implementation: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ja" sz="1200">
                          <a:solidFill>
                            <a:schemeClr val="dk2"/>
                          </a:solidFill>
                        </a:rPr>
                        <a:t>Project rollout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81" name="Google Shape;281;p50"/>
          <p:cNvGraphicFramePr/>
          <p:nvPr/>
        </p:nvGraphicFramePr>
        <p:xfrm>
          <a:off x="3577974" y="36730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{22A3B9CE-418E-434F-BF71-414BA2EF0C03}</a:tableStyleId>
              </a:tblPr>
              <a:tblGrid>
                <a:gridCol w="2195550"/>
              </a:tblGrid>
              <a:tr h="412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>
                          <a:solidFill>
                            <a:schemeClr val="dk2"/>
                          </a:solidFill>
                        </a:rPr>
                        <a:t>Apr 15th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55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rgbClr val="FF0000"/>
                          </a:solidFill>
                        </a:rPr>
                        <a:t>Demo Day 1</a:t>
                      </a:r>
                      <a:r>
                        <a:rPr lang="ja">
                          <a:solidFill>
                            <a:schemeClr val="dk2"/>
                          </a:solidFill>
                        </a:rPr>
                        <a:t>: 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 sz="1200">
                          <a:solidFill>
                            <a:schemeClr val="dk2"/>
                          </a:solidFill>
                        </a:rPr>
                        <a:t>Share your amazing POC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82" name="Google Shape;282;p50"/>
          <p:cNvGraphicFramePr/>
          <p:nvPr/>
        </p:nvGraphicFramePr>
        <p:xfrm>
          <a:off x="510587" y="36730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{22A3B9CE-418E-434F-BF71-414BA2EF0C03}</a:tableStyleId>
              </a:tblPr>
              <a:tblGrid>
                <a:gridCol w="2195575"/>
              </a:tblGrid>
              <a:tr h="353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>
                          <a:solidFill>
                            <a:schemeClr val="dk2"/>
                          </a:solidFill>
                        </a:rPr>
                        <a:t>~</a:t>
                      </a:r>
                      <a:r>
                        <a:rPr b="1" lang="ja">
                          <a:solidFill>
                            <a:schemeClr val="dk2"/>
                          </a:solidFill>
                        </a:rPr>
                        <a:t>Mar 17th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2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rgbClr val="FF0000"/>
                          </a:solidFill>
                        </a:rPr>
                        <a:t>CTO Prize Sign-up</a:t>
                      </a:r>
                      <a:r>
                        <a:rPr lang="ja">
                          <a:solidFill>
                            <a:schemeClr val="dk2"/>
                          </a:solidFill>
                        </a:rPr>
                        <a:t>: 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 sz="1200">
                          <a:solidFill>
                            <a:schemeClr val="dk2"/>
                          </a:solidFill>
                        </a:rPr>
                        <a:t>Bring your ideas for 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 sz="1200">
                          <a:solidFill>
                            <a:schemeClr val="dk2"/>
                          </a:solidFill>
                        </a:rPr>
                        <a:t>mentor matching!!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83" name="Google Shape;283;p50"/>
          <p:cNvGraphicFramePr/>
          <p:nvPr/>
        </p:nvGraphicFramePr>
        <p:xfrm>
          <a:off x="6468349" y="36730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{22A3B9CE-418E-434F-BF71-414BA2EF0C03}</a:tableStyleId>
              </a:tblPr>
              <a:tblGrid>
                <a:gridCol w="2034575"/>
              </a:tblGrid>
              <a:tr h="412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>
                          <a:solidFill>
                            <a:schemeClr val="dk2"/>
                          </a:solidFill>
                        </a:rPr>
                        <a:t>Jun</a:t>
                      </a:r>
                      <a:r>
                        <a:rPr b="1" lang="ja">
                          <a:solidFill>
                            <a:schemeClr val="dk2"/>
                          </a:solidFill>
                        </a:rPr>
                        <a:t>/17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55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rgbClr val="FF0000"/>
                          </a:solidFill>
                        </a:rPr>
                        <a:t>Demo Day 2</a:t>
                      </a:r>
                      <a:r>
                        <a:rPr lang="ja">
                          <a:solidFill>
                            <a:schemeClr val="dk2"/>
                          </a:solidFill>
                        </a:rPr>
                        <a:t>: 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 sz="1200">
                          <a:solidFill>
                            <a:schemeClr val="dk2"/>
                          </a:solidFill>
                        </a:rPr>
                        <a:t>Share the outcome 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 sz="1200">
                          <a:solidFill>
                            <a:schemeClr val="dk2"/>
                          </a:solidFill>
                        </a:rPr>
                        <a:t>to get the Final Award!!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1"/>
          <p:cNvSpPr txBox="1"/>
          <p:nvPr>
            <p:ph idx="2" type="subTitle"/>
          </p:nvPr>
        </p:nvSpPr>
        <p:spPr>
          <a:xfrm>
            <a:off x="231000" y="542275"/>
            <a:ext cx="87441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Your Support System</a:t>
            </a:r>
            <a:endParaRPr/>
          </a:p>
        </p:txBody>
      </p:sp>
      <p:sp>
        <p:nvSpPr>
          <p:cNvPr id="289" name="Google Shape;289;p51"/>
          <p:cNvSpPr txBox="1"/>
          <p:nvPr>
            <p:ph idx="1" type="body"/>
          </p:nvPr>
        </p:nvSpPr>
        <p:spPr>
          <a:xfrm>
            <a:off x="220625" y="1175900"/>
            <a:ext cx="8655600" cy="3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2"/>
                </a:solidFill>
                <a:highlight>
                  <a:schemeClr val="lt1"/>
                </a:highlight>
              </a:rPr>
              <a:t>Don't have a technical background?</a:t>
            </a:r>
            <a:r>
              <a:rPr b="1" lang="ja">
                <a:solidFill>
                  <a:schemeClr val="dk2"/>
                </a:solidFill>
              </a:rPr>
              <a:t> It’s not a problem!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2"/>
                </a:solidFill>
                <a:highlight>
                  <a:schemeClr val="lt1"/>
                </a:highlight>
              </a:rPr>
              <a:t>Expert Mentors will help you!</a:t>
            </a:r>
            <a:endParaRPr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ja" sz="1200">
                <a:solidFill>
                  <a:schemeClr val="dk2"/>
                </a:solidFill>
              </a:rPr>
              <a:t>Translate business "pains" into technical "solutions"</a:t>
            </a:r>
            <a:endParaRPr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ja" sz="1200">
                <a:solidFill>
                  <a:schemeClr val="dk2"/>
                </a:solidFill>
              </a:rPr>
              <a:t>Set up the environment and teach you how to use AI tools.</a:t>
            </a:r>
            <a:endParaRPr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ja" sz="1200">
                <a:solidFill>
                  <a:schemeClr val="dk2"/>
                </a:solidFill>
              </a:rPr>
              <a:t>Guilde you to build a working Prototype/POC.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2"/>
                </a:solidFill>
                <a:highlight>
                  <a:schemeClr val="lt1"/>
                </a:highlight>
              </a:rPr>
              <a:t>How to start the journey?</a:t>
            </a:r>
            <a:endParaRPr sz="12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b="1" lang="ja" sz="1200">
                <a:solidFill>
                  <a:schemeClr val="dk2"/>
                </a:solidFill>
              </a:rPr>
              <a:t>Join the Channel:</a:t>
            </a:r>
            <a:r>
              <a:rPr lang="ja" sz="1200">
                <a:solidFill>
                  <a:schemeClr val="dk2"/>
                </a:solidFill>
              </a:rPr>
              <a:t> </a:t>
            </a:r>
            <a:r>
              <a:rPr b="1" lang="ja" sz="1600">
                <a:solidFill>
                  <a:srgbClr val="FF0000"/>
                </a:solidFill>
              </a:rPr>
              <a:t>#cto-prize-help</a:t>
            </a:r>
            <a:r>
              <a:rPr lang="ja" sz="1200">
                <a:solidFill>
                  <a:schemeClr val="dk2"/>
                </a:solidFill>
              </a:rPr>
              <a:t>, the hub for all news and team-up requests.</a:t>
            </a:r>
            <a:endParaRPr sz="12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b="1" lang="ja" sz="1600">
                <a:solidFill>
                  <a:srgbClr val="FF0000"/>
                </a:solidFill>
              </a:rPr>
              <a:t>+1</a:t>
            </a:r>
            <a:r>
              <a:rPr b="1" lang="ja" sz="1200">
                <a:solidFill>
                  <a:schemeClr val="dk2"/>
                </a:solidFill>
              </a:rPr>
              <a:t>  for Workshops 1 &amp; 2:</a:t>
            </a:r>
            <a:r>
              <a:rPr lang="ja" sz="1200">
                <a:solidFill>
                  <a:schemeClr val="dk2"/>
                </a:solidFill>
              </a:rPr>
              <a:t> Welcome </a:t>
            </a:r>
            <a:r>
              <a:rPr b="1" lang="ja">
                <a:solidFill>
                  <a:schemeClr val="dk2"/>
                </a:solidFill>
              </a:rPr>
              <a:t>EVERYONE</a:t>
            </a:r>
            <a:r>
              <a:rPr lang="ja" sz="1200">
                <a:solidFill>
                  <a:schemeClr val="dk2"/>
                </a:solidFill>
              </a:rPr>
              <a:t> to learn the tools that can help with your daily work..</a:t>
            </a:r>
            <a:endParaRPr sz="12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b="1" lang="ja" sz="1200" u="sng">
                <a:solidFill>
                  <a:schemeClr val="hlink"/>
                </a:solidFill>
                <a:hlinkClick r:id="rId3"/>
              </a:rPr>
              <a:t>Submit Pain Points and Join CTO Prize Hackathon</a:t>
            </a:r>
            <a:r>
              <a:rPr b="1" lang="ja" sz="1200">
                <a:solidFill>
                  <a:schemeClr val="dk2"/>
                </a:solidFill>
              </a:rPr>
              <a:t>:</a:t>
            </a:r>
            <a:r>
              <a:rPr lang="ja" sz="1200">
                <a:solidFill>
                  <a:schemeClr val="dk2"/>
                </a:solidFill>
              </a:rPr>
              <a:t> Have a problem but no solution? Share it in the channel!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90" name="Google Shape;290;p51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</a:rPr>
              <a:t>CTO Prize Hackathon 2026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2"/>
          <p:cNvSpPr txBox="1"/>
          <p:nvPr>
            <p:ph idx="2" type="subTitle"/>
          </p:nvPr>
        </p:nvSpPr>
        <p:spPr>
          <a:xfrm>
            <a:off x="231000" y="542275"/>
            <a:ext cx="87441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FAQ</a:t>
            </a:r>
            <a:endParaRPr/>
          </a:p>
        </p:txBody>
      </p:sp>
      <p:sp>
        <p:nvSpPr>
          <p:cNvPr id="296" name="Google Shape;296;p52"/>
          <p:cNvSpPr txBox="1"/>
          <p:nvPr>
            <p:ph idx="1" type="body"/>
          </p:nvPr>
        </p:nvSpPr>
        <p:spPr>
          <a:xfrm>
            <a:off x="220625" y="1162096"/>
            <a:ext cx="8655600" cy="39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2"/>
                </a:solidFill>
                <a:highlight>
                  <a:schemeClr val="lt1"/>
                </a:highlight>
              </a:rPr>
              <a:t>Can I still participate in the workshops if I don’t yet know what pain point I want to solve?</a:t>
            </a:r>
            <a:r>
              <a:rPr b="1" lang="ja">
                <a:solidFill>
                  <a:schemeClr val="dk2"/>
                </a:solidFill>
                <a:highlight>
                  <a:schemeClr val="lt1"/>
                </a:highlight>
              </a:rPr>
              <a:t>?</a:t>
            </a:r>
            <a:endParaRPr sz="12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ja" sz="1200">
                <a:solidFill>
                  <a:schemeClr val="dk2"/>
                </a:solidFill>
              </a:rPr>
              <a:t>Absolutely, you’re very welcome!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b="1" lang="ja" sz="1200">
                <a:solidFill>
                  <a:srgbClr val="FF0000"/>
                </a:solidFill>
              </a:rPr>
              <a:t>Workshop 1 - AI Tool Introduction</a:t>
            </a:r>
            <a:r>
              <a:rPr lang="ja" sz="1200">
                <a:solidFill>
                  <a:schemeClr val="dk2"/>
                </a:solidFill>
              </a:rPr>
              <a:t> is designed to introduce AI tools to everyone, while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b="1" lang="ja" sz="1200">
                <a:solidFill>
                  <a:srgbClr val="FF0000"/>
                </a:solidFill>
              </a:rPr>
              <a:t>Workshop 2 - Pain Point &amp; Idea Surgery</a:t>
            </a:r>
            <a:r>
              <a:rPr lang="ja" sz="1200">
                <a:solidFill>
                  <a:schemeClr val="dk2"/>
                </a:solidFill>
              </a:rPr>
              <a:t> is designed to discuss AI solutions for your own challenges at work.</a:t>
            </a:r>
            <a:endParaRPr sz="1200">
              <a:solidFill>
                <a:schemeClr val="dk2"/>
              </a:solidFill>
            </a:endParaRPr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</a:pPr>
            <a:r>
              <a:rPr b="1" lang="ja" sz="1200">
                <a:solidFill>
                  <a:schemeClr val="dk2"/>
                </a:solidFill>
              </a:rPr>
              <a:t>Please contact </a:t>
            </a:r>
            <a:r>
              <a:rPr b="1" lang="ja" sz="1200" u="sng">
                <a:solidFill>
                  <a:schemeClr val="hlink"/>
                </a:solidFill>
                <a:hlinkClick r:id="rId3"/>
              </a:rPr>
              <a:t>@Ian Cheng</a:t>
            </a:r>
            <a:r>
              <a:rPr b="1" lang="ja" sz="1200">
                <a:solidFill>
                  <a:schemeClr val="dk2"/>
                </a:solidFill>
              </a:rPr>
              <a:t> to share your pain points in advance.</a:t>
            </a:r>
            <a:endParaRPr b="1"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b="1" lang="ja" sz="1200">
                <a:solidFill>
                  <a:srgbClr val="FF0000"/>
                </a:solidFill>
              </a:rPr>
              <a:t>The workshops above are FOR EVERYONE</a:t>
            </a:r>
            <a:r>
              <a:rPr lang="ja" sz="1200">
                <a:solidFill>
                  <a:schemeClr val="dk2"/>
                </a:solidFill>
              </a:rPr>
              <a:t>! </a:t>
            </a:r>
            <a:r>
              <a:rPr b="1" lang="ja" sz="1200">
                <a:solidFill>
                  <a:schemeClr val="dk2"/>
                </a:solidFill>
              </a:rPr>
              <a:t> Feel free to  </a:t>
            </a:r>
            <a:r>
              <a:rPr b="1" lang="ja" sz="1200">
                <a:solidFill>
                  <a:srgbClr val="FF0000"/>
                </a:solidFill>
              </a:rPr>
              <a:t>+1 </a:t>
            </a:r>
            <a:r>
              <a:rPr b="1" lang="ja" sz="1200">
                <a:solidFill>
                  <a:schemeClr val="dk2"/>
                </a:solidFill>
              </a:rPr>
              <a:t>in t</a:t>
            </a:r>
            <a:r>
              <a:rPr b="1" lang="ja" sz="1200" u="sng">
                <a:solidFill>
                  <a:schemeClr val="hlink"/>
                </a:solidFill>
                <a:hlinkClick r:id="rId4"/>
              </a:rPr>
              <a:t>his announcement</a:t>
            </a:r>
            <a:r>
              <a:rPr b="1" lang="ja" sz="1200">
                <a:solidFill>
                  <a:schemeClr val="dk2"/>
                </a:solidFill>
              </a:rPr>
              <a:t>.</a:t>
            </a:r>
            <a:endParaRPr b="1" sz="12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ja" sz="1200">
                <a:solidFill>
                  <a:schemeClr val="dk2"/>
                </a:solidFill>
              </a:rPr>
              <a:t>After attending </a:t>
            </a:r>
            <a:r>
              <a:rPr b="1" lang="ja" sz="1200">
                <a:solidFill>
                  <a:schemeClr val="dk2"/>
                </a:solidFill>
              </a:rPr>
              <a:t>Workshop 1 &amp; 2</a:t>
            </a:r>
            <a:r>
              <a:rPr lang="ja" sz="1200">
                <a:solidFill>
                  <a:schemeClr val="dk2"/>
                </a:solidFill>
              </a:rPr>
              <a:t>, you may have a much clearer idea of what problem you’d like to work on for the </a:t>
            </a:r>
            <a:r>
              <a:rPr b="1" lang="ja" sz="1200">
                <a:solidFill>
                  <a:schemeClr val="dk2"/>
                </a:solidFill>
              </a:rPr>
              <a:t>CTO Prize Hackathon</a:t>
            </a:r>
            <a:r>
              <a:rPr lang="ja" sz="1200">
                <a:solidFill>
                  <a:schemeClr val="dk2"/>
                </a:solidFill>
              </a:rPr>
              <a:t>!</a:t>
            </a:r>
            <a:endParaRPr sz="12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ja" sz="1200">
                <a:solidFill>
                  <a:schemeClr val="dk2"/>
                </a:solidFill>
              </a:rPr>
              <a:t>Please note that </a:t>
            </a:r>
            <a:r>
              <a:rPr b="1" lang="ja" sz="1200">
                <a:solidFill>
                  <a:schemeClr val="dk2"/>
                </a:solidFill>
              </a:rPr>
              <a:t>Workshops 3 and 4 are available only to teams that have registered for the competition</a:t>
            </a:r>
            <a:r>
              <a:rPr lang="ja" sz="1200">
                <a:solidFill>
                  <a:schemeClr val="dk2"/>
                </a:solidFill>
              </a:rPr>
              <a:t>. We warmly encourage everyone to sign up and let us help you tackle real challenges in your work! 🚀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2"/>
                </a:solidFill>
              </a:rPr>
              <a:t>Will the workshops be held online or in person? Will there be recordings available for replay?</a:t>
            </a:r>
            <a:r>
              <a:rPr b="1" lang="ja">
                <a:solidFill>
                  <a:schemeClr val="dk2"/>
                </a:solidFill>
                <a:highlight>
                  <a:schemeClr val="lt1"/>
                </a:highlight>
              </a:rPr>
              <a:t>?</a:t>
            </a:r>
            <a:endParaRPr sz="12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b="1" lang="ja" sz="1200">
                <a:solidFill>
                  <a:schemeClr val="dk2"/>
                </a:solidFill>
              </a:rPr>
              <a:t>Workshops 1, 2, and 3</a:t>
            </a:r>
            <a:r>
              <a:rPr lang="ja" sz="1200">
                <a:solidFill>
                  <a:schemeClr val="dk2"/>
                </a:solidFill>
              </a:rPr>
              <a:t> will all be conducted online, and recordings will be provided for everyone to review afterward.</a:t>
            </a:r>
            <a:endParaRPr sz="12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b="1" lang="ja" sz="1200">
                <a:solidFill>
                  <a:schemeClr val="dk2"/>
                </a:solidFill>
              </a:rPr>
              <a:t>Workshop 4 – Prototyping with Mentors</a:t>
            </a:r>
            <a:r>
              <a:rPr lang="ja" sz="1200">
                <a:solidFill>
                  <a:schemeClr val="dk2"/>
                </a:solidFill>
              </a:rPr>
              <a:t> will have its coaching format and frequency determined by the mentors together with each participating team.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297" name="Google Shape;297;p52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</a:rPr>
              <a:t>CTO Prize Hackathon 2026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03" name="Google Shape;303;p53"/>
          <p:cNvSpPr txBox="1"/>
          <p:nvPr>
            <p:ph idx="1" type="subTitle"/>
          </p:nvPr>
        </p:nvSpPr>
        <p:spPr>
          <a:xfrm>
            <a:off x="3931725" y="2317800"/>
            <a:ext cx="4929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000"/>
              <a:t>Thank you</a:t>
            </a:r>
            <a:endParaRPr i="1"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4"/>
          <p:cNvSpPr txBox="1"/>
          <p:nvPr/>
        </p:nvSpPr>
        <p:spPr>
          <a:xfrm>
            <a:off x="5494550" y="2123925"/>
            <a:ext cx="34932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CTO Prize Hackathon 2026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lt1"/>
                </a:solidFill>
              </a:rPr>
              <a:t>ー AIで、すべての社員に「超能力」を。</a:t>
            </a:r>
            <a:endParaRPr b="1" i="1">
              <a:solidFill>
                <a:schemeClr val="lt1"/>
              </a:solidFill>
            </a:endParaRPr>
          </a:p>
        </p:txBody>
      </p:sp>
      <p:sp>
        <p:nvSpPr>
          <p:cNvPr id="309" name="Google Shape;309;p54"/>
          <p:cNvSpPr txBox="1"/>
          <p:nvPr/>
        </p:nvSpPr>
        <p:spPr>
          <a:xfrm>
            <a:off x="5875550" y="4257375"/>
            <a:ext cx="27258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2026.H1</a:t>
            </a:r>
            <a:endParaRPr b="1" sz="1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JS</a:t>
            </a:r>
            <a:endParaRPr b="1" sz="1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17LIVE CTO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10" name="Google Shape;310;p54"/>
          <p:cNvSpPr txBox="1"/>
          <p:nvPr/>
        </p:nvSpPr>
        <p:spPr>
          <a:xfrm>
            <a:off x="5108150" y="2937325"/>
            <a:ext cx="349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日本語版</a:t>
            </a:r>
            <a:endParaRPr b="1" i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5"/>
          <p:cNvSpPr txBox="1"/>
          <p:nvPr>
            <p:ph idx="2" type="subTitle"/>
          </p:nvPr>
        </p:nvSpPr>
        <p:spPr>
          <a:xfrm>
            <a:off x="231000" y="542275"/>
            <a:ext cx="87441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なぜCTO Prizeを開催するのか？</a:t>
            </a:r>
            <a:endParaRPr/>
          </a:p>
        </p:txBody>
      </p:sp>
      <p:sp>
        <p:nvSpPr>
          <p:cNvPr id="316" name="Google Shape;316;p55"/>
          <p:cNvSpPr txBox="1"/>
          <p:nvPr>
            <p:ph idx="1" type="body"/>
          </p:nvPr>
        </p:nvSpPr>
        <p:spPr>
          <a:xfrm>
            <a:off x="220625" y="1175900"/>
            <a:ext cx="7684500" cy="3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2"/>
                </a:solidFill>
                <a:highlight>
                  <a:schemeClr val="lt1"/>
                </a:highlight>
              </a:rPr>
              <a:t>Vision</a:t>
            </a:r>
            <a:endParaRPr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ja" sz="1200">
                <a:solidFill>
                  <a:schemeClr val="dk2"/>
                </a:solidFill>
              </a:rPr>
              <a:t>AIとシステムツールを最大限に活用し、より速く、より安全な(Faster and Safer)組織運営を実現する。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2"/>
                </a:solidFill>
                <a:highlight>
                  <a:schemeClr val="lt1"/>
                </a:highlight>
              </a:rPr>
              <a:t>Goal</a:t>
            </a:r>
            <a:endParaRPr sz="11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ja" sz="1200">
                <a:solidFill>
                  <a:schemeClr val="dk2"/>
                </a:solidFill>
              </a:rPr>
              <a:t>現場のオペレーションにおける悩み(Pain Point)を、AIによって解決する。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2"/>
                </a:solidFill>
                <a:highlight>
                  <a:schemeClr val="lt1"/>
                </a:highlight>
              </a:rPr>
              <a:t>成功の指標</a:t>
            </a:r>
            <a:endParaRPr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b="1" lang="ja" sz="1200">
                <a:solidFill>
                  <a:schemeClr val="dk2"/>
                </a:solidFill>
              </a:rPr>
              <a:t>効率性(Efficiency)</a:t>
            </a:r>
            <a:r>
              <a:rPr lang="ja" sz="1200">
                <a:solidFill>
                  <a:schemeClr val="dk2"/>
                </a:solidFill>
              </a:rPr>
              <a:t>：月間の手作業工数をどれだけ削減できたか</a:t>
            </a:r>
            <a:endParaRPr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b="1" lang="ja" sz="1200">
                <a:solidFill>
                  <a:schemeClr val="dk2"/>
                </a:solidFill>
              </a:rPr>
              <a:t>正確性(Accuracy)</a:t>
            </a:r>
            <a:r>
              <a:rPr lang="ja" sz="1200">
                <a:solidFill>
                  <a:schemeClr val="dk2"/>
                </a:solidFill>
              </a:rPr>
              <a:t>：オペレーション上のミスやエラー率の低減</a:t>
            </a:r>
            <a:endParaRPr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b="1" lang="ja" sz="1200">
                <a:solidFill>
                  <a:schemeClr val="dk2"/>
                </a:solidFill>
              </a:rPr>
              <a:t>スピード(Speed)</a:t>
            </a:r>
            <a:r>
              <a:rPr lang="ja" sz="1200">
                <a:solidFill>
                  <a:schemeClr val="dk2"/>
                </a:solidFill>
              </a:rPr>
              <a:t>：定型的な業務プロセスのスピードアップ</a:t>
            </a:r>
            <a:endParaRPr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b="1" lang="ja" sz="1200">
                <a:solidFill>
                  <a:schemeClr val="dk2"/>
                </a:solidFill>
              </a:rPr>
              <a:t>コスト削減(Saving)</a:t>
            </a:r>
            <a:r>
              <a:rPr lang="ja" sz="1200">
                <a:solidFill>
                  <a:schemeClr val="dk2"/>
                </a:solidFill>
              </a:rPr>
              <a:t>：クラウド利用料、外部ベンダー費用、運用コストの削減</a:t>
            </a:r>
            <a:endParaRPr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b="1" lang="ja" sz="1200">
                <a:solidFill>
                  <a:schemeClr val="dk2"/>
                </a:solidFill>
              </a:rPr>
              <a:t>連携(Coordination)</a:t>
            </a:r>
            <a:r>
              <a:rPr lang="ja" sz="1200">
                <a:solidFill>
                  <a:schemeClr val="dk2"/>
                </a:solidFill>
              </a:rPr>
              <a:t>：チーム間を跨ぐ連携の最適化</a:t>
            </a:r>
            <a:endParaRPr b="1" sz="1600">
              <a:solidFill>
                <a:schemeClr val="dk2"/>
              </a:solidFill>
            </a:endParaRPr>
          </a:p>
        </p:txBody>
      </p:sp>
      <p:sp>
        <p:nvSpPr>
          <p:cNvPr id="317" name="Google Shape;317;p55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CTO Prize Hackathon 2026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6"/>
          <p:cNvSpPr txBox="1"/>
          <p:nvPr>
            <p:ph idx="2" type="subTitle"/>
          </p:nvPr>
        </p:nvSpPr>
        <p:spPr>
          <a:xfrm>
            <a:off x="231000" y="542275"/>
            <a:ext cx="87441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参加規定</a:t>
            </a:r>
            <a:endParaRPr/>
          </a:p>
        </p:txBody>
      </p:sp>
      <p:sp>
        <p:nvSpPr>
          <p:cNvPr id="323" name="Google Shape;323;p56"/>
          <p:cNvSpPr txBox="1"/>
          <p:nvPr>
            <p:ph idx="1" type="body"/>
          </p:nvPr>
        </p:nvSpPr>
        <p:spPr>
          <a:xfrm>
            <a:off x="220625" y="1175900"/>
            <a:ext cx="7609200" cy="3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>
                <a:solidFill>
                  <a:schemeClr val="dk2"/>
                </a:solidFill>
                <a:highlight>
                  <a:schemeClr val="lt1"/>
                </a:highlight>
              </a:rPr>
              <a:t>参加資格</a:t>
            </a:r>
            <a:endParaRPr sz="1200">
              <a:solidFill>
                <a:schemeClr val="dk2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ja" sz="1200">
                <a:solidFill>
                  <a:schemeClr val="dk2"/>
                </a:solidFill>
              </a:rPr>
              <a:t>すべての正社員が参加可能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2"/>
                </a:solidFill>
                <a:highlight>
                  <a:schemeClr val="lt1"/>
                </a:highlight>
              </a:rPr>
              <a:t>チーム構成</a:t>
            </a:r>
            <a:endParaRPr sz="1200">
              <a:solidFill>
                <a:schemeClr val="dk2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ja" sz="1200">
                <a:solidFill>
                  <a:schemeClr val="dk2"/>
                </a:solidFill>
              </a:rPr>
              <a:t>1チームあたり1～5名</a:t>
            </a:r>
            <a:endParaRPr sz="1200">
              <a:solidFill>
                <a:schemeClr val="dk2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ja" sz="1200">
                <a:solidFill>
                  <a:schemeClr val="dk2"/>
                </a:solidFill>
              </a:rPr>
              <a:t>部門横断・地域横断のコラボレーション（例：運営＋技術）はおすすめ</a:t>
            </a:r>
            <a:endParaRPr sz="1200">
              <a:solidFill>
                <a:schemeClr val="dk2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ja" sz="1200">
                <a:solidFill>
                  <a:schemeClr val="dk2"/>
                </a:solidFill>
              </a:rPr>
              <a:t>メンターおよび技術サポートが提供されます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 u="sng">
                <a:solidFill>
                  <a:schemeClr val="hlink"/>
                </a:solidFill>
                <a:hlinkClick r:id="rId3"/>
              </a:rPr>
              <a:t>AIツールの活用事例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324" name="Google Shape;324;p56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CTO Prize Hackathon 2026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7"/>
          <p:cNvSpPr/>
          <p:nvPr/>
        </p:nvSpPr>
        <p:spPr>
          <a:xfrm>
            <a:off x="145673" y="3136220"/>
            <a:ext cx="8575500" cy="1814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57"/>
          <p:cNvSpPr txBox="1"/>
          <p:nvPr>
            <p:ph idx="2" type="subTitle"/>
          </p:nvPr>
        </p:nvSpPr>
        <p:spPr>
          <a:xfrm>
            <a:off x="231000" y="542275"/>
            <a:ext cx="87441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2"/>
                </a:solidFill>
              </a:rPr>
              <a:t>Phase 1: POC Demo Day </a:t>
            </a:r>
            <a:r>
              <a:rPr lang="ja">
                <a:solidFill>
                  <a:srgbClr val="FF0000"/>
                </a:solidFill>
              </a:rPr>
              <a:t>(4/15)</a:t>
            </a:r>
            <a:r>
              <a:rPr lang="ja">
                <a:solidFill>
                  <a:schemeClr val="dk2"/>
                </a:solidFill>
              </a:rPr>
              <a:t>：ルールと評価基準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31" name="Google Shape;331;p57"/>
          <p:cNvSpPr txBox="1"/>
          <p:nvPr>
            <p:ph idx="1" type="body"/>
          </p:nvPr>
        </p:nvSpPr>
        <p:spPr>
          <a:xfrm>
            <a:off x="231000" y="937272"/>
            <a:ext cx="8798400" cy="41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>
                <a:solidFill>
                  <a:schemeClr val="dk2"/>
                </a:solidFill>
              </a:rPr>
              <a:t>提出要件</a:t>
            </a:r>
            <a:endParaRPr b="1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Pain Pointの特定</a:t>
            </a:r>
            <a:r>
              <a:rPr lang="ja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解決したい課題や手作業タスクを明確にする。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解決策の披露</a:t>
            </a:r>
            <a:r>
              <a:rPr lang="ja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AI自動化ワークフローを提出（ロジックや連携ツールをデモ）。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ja" sz="1200">
                <a:solidFill>
                  <a:schemeClr val="dk2"/>
                </a:solidFill>
              </a:rPr>
              <a:t>この段階で本番環境への完全導入は不要です。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成功指標の定義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Rolloutフェーズでの目標を提出（例：削減工数、ヒューマンエラー低減率、コスト削減額など）。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>
                <a:solidFill>
                  <a:schemeClr val="dk2"/>
                </a:solidFill>
              </a:rPr>
              <a:t>審査基準（Phase 1）：</a:t>
            </a:r>
            <a:r>
              <a:rPr i="1" lang="ja">
                <a:solidFill>
                  <a:schemeClr val="dk2"/>
                </a:solidFill>
              </a:rPr>
              <a:t>CTO Prizeチームとメンターが5つ星で評価</a:t>
            </a:r>
            <a:endParaRPr b="1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30%  課題解決と目標設定</a:t>
            </a:r>
            <a:r>
              <a:rPr lang="ja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お悩みと解決策の明確さ、KPI設定の精度。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30%  ワークフローの完成度</a:t>
            </a:r>
            <a:r>
              <a:rPr lang="ja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自動化フローの論理性と完成度。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40%  全社員投票</a:t>
            </a:r>
            <a:endParaRPr b="1"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詳細は次のページへ！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332" name="Google Shape;332;p57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CTO Prize Hackathon 2026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8"/>
          <p:cNvSpPr/>
          <p:nvPr/>
        </p:nvSpPr>
        <p:spPr>
          <a:xfrm>
            <a:off x="145675" y="3857618"/>
            <a:ext cx="8575500" cy="11475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58"/>
          <p:cNvSpPr txBox="1"/>
          <p:nvPr>
            <p:ph idx="1" type="body"/>
          </p:nvPr>
        </p:nvSpPr>
        <p:spPr>
          <a:xfrm>
            <a:off x="231000" y="1065475"/>
            <a:ext cx="8603400" cy="40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dk2"/>
                </a:solidFill>
              </a:rPr>
              <a:t>素晴らしいAI解決策を全社員に披露するため、</a:t>
            </a:r>
            <a:r>
              <a:rPr b="1" lang="ja" sz="1200">
                <a:solidFill>
                  <a:schemeClr val="dk2"/>
                </a:solidFill>
              </a:rPr>
              <a:t>全社員投票イベント</a:t>
            </a:r>
            <a:r>
              <a:rPr lang="ja" sz="1200">
                <a:solidFill>
                  <a:schemeClr val="dk2"/>
                </a:solidFill>
              </a:rPr>
              <a:t>を実施します！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提出要件</a:t>
            </a:r>
            <a:r>
              <a:rPr lang="ja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3〜5分の</a:t>
            </a:r>
            <a:r>
              <a:rPr b="1" lang="ja" sz="1200">
                <a:solidFill>
                  <a:schemeClr val="dk2"/>
                </a:solidFill>
              </a:rPr>
              <a:t>デモ動画</a:t>
            </a:r>
            <a:r>
              <a:rPr lang="ja" sz="1200">
                <a:solidFill>
                  <a:schemeClr val="dk2"/>
                </a:solidFill>
              </a:rPr>
              <a:t>と</a:t>
            </a:r>
            <a:r>
              <a:rPr b="1" lang="ja" sz="1200">
                <a:solidFill>
                  <a:schemeClr val="dk2"/>
                </a:solidFill>
              </a:rPr>
              <a:t>3枚のスライド</a:t>
            </a:r>
            <a:r>
              <a:rPr lang="ja" sz="1200">
                <a:solidFill>
                  <a:schemeClr val="dk2"/>
                </a:solidFill>
              </a:rPr>
              <a:t>を提出してください。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内容：Pain Pointの定義 ⭢ 自動化ワークフローの提示 ⭢ 目標指標の宣言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投票期間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b="1" lang="ja" sz="1200">
                <a:solidFill>
                  <a:schemeClr val="dk2"/>
                </a:solidFill>
              </a:rPr>
              <a:t>開始：</a:t>
            </a:r>
            <a:r>
              <a:rPr lang="ja" sz="1200">
                <a:solidFill>
                  <a:schemeClr val="dk2"/>
                </a:solidFill>
              </a:rPr>
              <a:t>Demo Day 1の3日前から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b="1" lang="ja" sz="1200">
                <a:solidFill>
                  <a:schemeClr val="dk2"/>
                </a:solidFill>
              </a:rPr>
              <a:t>終了：</a:t>
            </a:r>
            <a:r>
              <a:rPr lang="ja" sz="1200">
                <a:solidFill>
                  <a:schemeClr val="dk2"/>
                </a:solidFill>
              </a:rPr>
              <a:t>Demo Day 1 当日の終業時刻まで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投票場所</a:t>
            </a:r>
            <a:r>
              <a:rPr lang="ja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エントリーはすべて</a:t>
            </a:r>
            <a:r>
              <a:rPr b="1" lang="ja" sz="1200">
                <a:solidFill>
                  <a:schemeClr val="dk2"/>
                </a:solidFill>
              </a:rPr>
              <a:t>#global-announcement</a:t>
            </a:r>
            <a:r>
              <a:rPr lang="ja" sz="1200">
                <a:solidFill>
                  <a:schemeClr val="dk2"/>
                </a:solidFill>
              </a:rPr>
              <a:t>にて公開。最も「これはすごい！」と思ったソリューションに一票を投じてください！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スコア配分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全社員投票の結果は、</a:t>
            </a:r>
            <a:r>
              <a:rPr b="1" lang="ja" sz="1200">
                <a:solidFill>
                  <a:schemeClr val="dk2"/>
                </a:solidFill>
              </a:rPr>
              <a:t>Phase 1総合スコアの40%を占めます</a:t>
            </a:r>
            <a:r>
              <a:rPr lang="ja" sz="1200">
                <a:solidFill>
                  <a:schemeClr val="dk2"/>
                </a:solidFill>
              </a:rPr>
              <a:t>。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2"/>
                </a:solidFill>
              </a:rPr>
              <a:t>リワードと選考：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上位5チーム</a:t>
            </a:r>
            <a:endParaRPr b="1" sz="1200">
              <a:solidFill>
                <a:schemeClr val="dk2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1チームにつき</a:t>
            </a:r>
            <a:r>
              <a:rPr b="1" lang="ja" sz="1200">
                <a:solidFill>
                  <a:srgbClr val="FF0000"/>
                </a:solidFill>
              </a:rPr>
              <a:t>¥10,000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上位10チーム</a:t>
            </a:r>
            <a:r>
              <a:rPr lang="ja" sz="1200">
                <a:solidFill>
                  <a:schemeClr val="dk2"/>
                </a:solidFill>
              </a:rPr>
              <a:t>はPhase 2 (Rollout)への進出が決定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339" name="Google Shape;339;p58"/>
          <p:cNvSpPr txBox="1"/>
          <p:nvPr>
            <p:ph idx="2" type="subTitle"/>
          </p:nvPr>
        </p:nvSpPr>
        <p:spPr>
          <a:xfrm>
            <a:off x="231000" y="542275"/>
            <a:ext cx="87441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2"/>
                </a:solidFill>
              </a:rPr>
              <a:t>Phase 1: POC Demo Day </a:t>
            </a:r>
            <a:r>
              <a:rPr lang="ja">
                <a:solidFill>
                  <a:srgbClr val="FF0000"/>
                </a:solidFill>
              </a:rPr>
              <a:t>(4/15)</a:t>
            </a:r>
            <a:r>
              <a:rPr lang="ja">
                <a:solidFill>
                  <a:schemeClr val="dk2"/>
                </a:solidFill>
              </a:rPr>
              <a:t>：リワードと選考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40" name="Google Shape;340;p58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2"/>
                </a:solidFill>
              </a:rPr>
              <a:t>CTO Prize Hackathon 2026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9"/>
          <p:cNvSpPr/>
          <p:nvPr/>
        </p:nvSpPr>
        <p:spPr>
          <a:xfrm>
            <a:off x="176875" y="3010166"/>
            <a:ext cx="8575500" cy="18756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59"/>
          <p:cNvSpPr txBox="1"/>
          <p:nvPr>
            <p:ph idx="2" type="subTitle"/>
          </p:nvPr>
        </p:nvSpPr>
        <p:spPr>
          <a:xfrm>
            <a:off x="231000" y="542275"/>
            <a:ext cx="87441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2"/>
                </a:solidFill>
              </a:rPr>
              <a:t>Phase 2: Rollout Demo Day </a:t>
            </a:r>
            <a:r>
              <a:rPr lang="ja">
                <a:solidFill>
                  <a:srgbClr val="FF0000"/>
                </a:solidFill>
              </a:rPr>
              <a:t>(6/17)</a:t>
            </a:r>
            <a:r>
              <a:rPr lang="ja">
                <a:solidFill>
                  <a:schemeClr val="dk2"/>
                </a:solidFill>
              </a:rPr>
              <a:t>：ルールと評価基準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47" name="Google Shape;347;p59"/>
          <p:cNvSpPr txBox="1"/>
          <p:nvPr>
            <p:ph idx="1" type="body"/>
          </p:nvPr>
        </p:nvSpPr>
        <p:spPr>
          <a:xfrm>
            <a:off x="231000" y="1022174"/>
            <a:ext cx="8382300" cy="41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2"/>
                </a:solidFill>
              </a:rPr>
              <a:t>最終プレゼンテーション</a:t>
            </a:r>
            <a:endParaRPr b="1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ソリューションの披露</a:t>
            </a:r>
            <a:r>
              <a:rPr lang="ja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実際に稼働しているAI自動化ツールのデモを見せてください。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ビフォー・アフター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AIワークフローの実装によって業務がどう生まれ変わったか、その手応えをアピールしましょう。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実績の検証</a:t>
            </a:r>
            <a:r>
              <a:rPr lang="ja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POCで掲げたKPIをクリアできたか報告してください。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2"/>
                </a:solidFill>
              </a:rPr>
              <a:t>審査基準（Phase 2）：</a:t>
            </a:r>
            <a:r>
              <a:rPr i="1" lang="ja">
                <a:solidFill>
                  <a:schemeClr val="dk2"/>
                </a:solidFill>
              </a:rPr>
              <a:t>GM &amp; C-Levelが5つ星で評価</a:t>
            </a:r>
            <a:endParaRPr i="1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30% 導入難易度 (#respecteveryone)</a:t>
            </a:r>
            <a:r>
              <a:rPr lang="ja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チーム全員が使いこなせる、優しい設計になっていますか？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40% 有効性 (#focusongoal)</a:t>
            </a:r>
            <a:r>
              <a:rPr lang="ja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狙い通り、業務に大きな変化をもたらしましたか？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30% 創造性 (#breakthenorm)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「その手があったか！」と思わせる、斬新な発想はありますか？</a:t>
            </a:r>
            <a:endParaRPr b="1" sz="1200">
              <a:solidFill>
                <a:schemeClr val="dk2"/>
              </a:solidFill>
            </a:endParaRPr>
          </a:p>
        </p:txBody>
      </p:sp>
      <p:sp>
        <p:nvSpPr>
          <p:cNvPr id="348" name="Google Shape;348;p59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2"/>
                </a:solidFill>
              </a:rPr>
              <a:t>CTO Prize Hackathon 2026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0"/>
          <p:cNvSpPr txBox="1"/>
          <p:nvPr>
            <p:ph idx="1" type="body"/>
          </p:nvPr>
        </p:nvSpPr>
        <p:spPr>
          <a:xfrm>
            <a:off x="459000" y="1313636"/>
            <a:ext cx="3312600" cy="1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2"/>
                </a:solidFill>
              </a:rPr>
              <a:t>ファイナリスト賞：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b="1" lang="ja" sz="1200">
                <a:solidFill>
                  <a:schemeClr val="dk2"/>
                </a:solidFill>
              </a:rPr>
              <a:t>Top 3</a:t>
            </a:r>
            <a:endParaRPr b="1" sz="1200">
              <a:solidFill>
                <a:schemeClr val="dk2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優勝：</a:t>
            </a:r>
            <a:r>
              <a:rPr b="1" lang="ja" sz="1200">
                <a:solidFill>
                  <a:srgbClr val="FF0000"/>
                </a:solidFill>
              </a:rPr>
              <a:t>¥100,000</a:t>
            </a:r>
            <a:endParaRPr b="1" sz="1200">
              <a:solidFill>
                <a:srgbClr val="FF000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準優勝：</a:t>
            </a:r>
            <a:r>
              <a:rPr b="1" lang="ja" sz="1200">
                <a:solidFill>
                  <a:srgbClr val="FF0000"/>
                </a:solidFill>
              </a:rPr>
              <a:t>¥50,000</a:t>
            </a:r>
            <a:endParaRPr b="1" sz="1200">
              <a:solidFill>
                <a:srgbClr val="FF000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第3位：</a:t>
            </a:r>
            <a:r>
              <a:rPr b="1" lang="ja" sz="1200">
                <a:solidFill>
                  <a:srgbClr val="FF0000"/>
                </a:solidFill>
              </a:rPr>
              <a:t>¥30,000</a:t>
            </a:r>
            <a:endParaRPr b="1" sz="1200"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b="1" lang="ja" sz="1200">
                <a:solidFill>
                  <a:schemeClr val="dk2"/>
                </a:solidFill>
              </a:rPr>
              <a:t>他7チーム</a:t>
            </a:r>
            <a:r>
              <a:rPr lang="ja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lang="ja" sz="1200">
                <a:solidFill>
                  <a:schemeClr val="dk2"/>
                </a:solidFill>
              </a:rPr>
              <a:t>各チーム</a:t>
            </a:r>
            <a:r>
              <a:rPr b="1" lang="ja" sz="1200">
                <a:solidFill>
                  <a:srgbClr val="FF0000"/>
                </a:solidFill>
              </a:rPr>
              <a:t>¥10,000</a:t>
            </a:r>
            <a:r>
              <a:rPr lang="ja" sz="12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54" name="Google Shape;354;p60"/>
          <p:cNvSpPr txBox="1"/>
          <p:nvPr>
            <p:ph idx="2" type="subTitle"/>
          </p:nvPr>
        </p:nvSpPr>
        <p:spPr>
          <a:xfrm>
            <a:off x="231000" y="542275"/>
            <a:ext cx="87441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2"/>
                </a:solidFill>
              </a:rPr>
              <a:t>Phase 2: Rollout Demo Day </a:t>
            </a:r>
            <a:r>
              <a:rPr lang="ja">
                <a:solidFill>
                  <a:srgbClr val="FF0000"/>
                </a:solidFill>
              </a:rPr>
              <a:t>(6/17)</a:t>
            </a:r>
            <a:r>
              <a:rPr lang="ja">
                <a:solidFill>
                  <a:schemeClr val="dk2"/>
                </a:solidFill>
              </a:rPr>
              <a:t>：プライズ一覧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55" name="Google Shape;355;p60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CTO Prize Hackathon 2026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356" name="Google Shape;356;p60" title="前三名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993" y="3358964"/>
            <a:ext cx="3214292" cy="1339277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pic>
      <p:sp>
        <p:nvSpPr>
          <p:cNvPr id="357" name="Google Shape;357;p60"/>
          <p:cNvSpPr/>
          <p:nvPr/>
        </p:nvSpPr>
        <p:spPr>
          <a:xfrm>
            <a:off x="540557" y="4533637"/>
            <a:ext cx="930900" cy="3150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71975" lIns="71975" spcFirstLastPara="1" rIns="71975" wrap="square" tIns="71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2">
                <a:solidFill>
                  <a:schemeClr val="lt1"/>
                </a:solidFill>
              </a:rPr>
              <a:t>¥100,000</a:t>
            </a:r>
            <a:endParaRPr b="1" sz="1202">
              <a:solidFill>
                <a:schemeClr val="lt1"/>
              </a:solidFill>
            </a:endParaRPr>
          </a:p>
        </p:txBody>
      </p:sp>
      <p:sp>
        <p:nvSpPr>
          <p:cNvPr id="358" name="Google Shape;358;p60"/>
          <p:cNvSpPr/>
          <p:nvPr/>
        </p:nvSpPr>
        <p:spPr>
          <a:xfrm>
            <a:off x="1600732" y="4533637"/>
            <a:ext cx="930900" cy="3150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>
            <a:noFill/>
          </a:ln>
        </p:spPr>
        <p:txBody>
          <a:bodyPr anchorCtr="0" anchor="ctr" bIns="71975" lIns="71975" spcFirstLastPara="1" rIns="71975" wrap="square" tIns="71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2">
                <a:solidFill>
                  <a:schemeClr val="lt1"/>
                </a:solidFill>
              </a:rPr>
              <a:t>¥50,000</a:t>
            </a:r>
            <a:endParaRPr b="1" sz="1202">
              <a:solidFill>
                <a:schemeClr val="lt1"/>
              </a:solidFill>
            </a:endParaRPr>
          </a:p>
        </p:txBody>
      </p:sp>
      <p:sp>
        <p:nvSpPr>
          <p:cNvPr id="359" name="Google Shape;359;p60"/>
          <p:cNvSpPr/>
          <p:nvPr/>
        </p:nvSpPr>
        <p:spPr>
          <a:xfrm>
            <a:off x="2660926" y="4533637"/>
            <a:ext cx="930900" cy="3150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>
            <a:noFill/>
          </a:ln>
        </p:spPr>
        <p:txBody>
          <a:bodyPr anchorCtr="0" anchor="ctr" bIns="71975" lIns="71975" spcFirstLastPara="1" rIns="71975" wrap="square" tIns="71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2">
                <a:solidFill>
                  <a:schemeClr val="lt1"/>
                </a:solidFill>
              </a:rPr>
              <a:t>¥30,000</a:t>
            </a:r>
            <a:endParaRPr b="1" sz="1202">
              <a:solidFill>
                <a:schemeClr val="lt1"/>
              </a:solidFill>
            </a:endParaRPr>
          </a:p>
        </p:txBody>
      </p:sp>
      <p:sp>
        <p:nvSpPr>
          <p:cNvPr id="360" name="Google Shape;360;p60"/>
          <p:cNvSpPr txBox="1"/>
          <p:nvPr>
            <p:ph idx="1" type="body"/>
          </p:nvPr>
        </p:nvSpPr>
        <p:spPr>
          <a:xfrm>
            <a:off x="4572000" y="1313636"/>
            <a:ext cx="4187100" cy="33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2"/>
                </a:solidFill>
              </a:rPr>
              <a:t>特別賞：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b="1" lang="ja" sz="1200">
                <a:solidFill>
                  <a:schemeClr val="dk2"/>
                </a:solidFill>
              </a:rPr>
              <a:t>ベスト・ノンプロダクト賞</a:t>
            </a:r>
            <a:r>
              <a:rPr lang="ja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b="1" lang="ja" sz="1200">
                <a:solidFill>
                  <a:srgbClr val="FF0000"/>
                </a:solidFill>
              </a:rPr>
              <a:t>¥20,000</a:t>
            </a:r>
            <a:r>
              <a:rPr lang="ja" sz="1200">
                <a:solidFill>
                  <a:schemeClr val="dk2"/>
                </a:solidFill>
              </a:rPr>
              <a:t>（1チーム限定）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b="1" lang="ja" sz="1200">
                <a:solidFill>
                  <a:schemeClr val="dk2"/>
                </a:solidFill>
              </a:rPr>
              <a:t>トップ・メンター賞</a:t>
            </a:r>
            <a:r>
              <a:rPr lang="ja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b="1" lang="ja" sz="1200">
                <a:solidFill>
                  <a:srgbClr val="FF0000"/>
                </a:solidFill>
              </a:rPr>
              <a:t>¥20,000</a:t>
            </a:r>
            <a:r>
              <a:rPr lang="ja" sz="1200">
                <a:solidFill>
                  <a:schemeClr val="dk2"/>
                </a:solidFill>
              </a:rPr>
              <a:t>（メンター1名限定）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61"/>
          <p:cNvSpPr txBox="1"/>
          <p:nvPr>
            <p:ph idx="2" type="subTitle"/>
          </p:nvPr>
        </p:nvSpPr>
        <p:spPr>
          <a:xfrm>
            <a:off x="231000" y="542275"/>
            <a:ext cx="87441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イノベーションへの道筋 (Timeline)</a:t>
            </a:r>
            <a:endParaRPr/>
          </a:p>
        </p:txBody>
      </p:sp>
      <p:sp>
        <p:nvSpPr>
          <p:cNvPr id="366" name="Google Shape;366;p61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2"/>
                </a:solidFill>
              </a:rPr>
              <a:t>CTO Prize Hackathon 2026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7" name="Google Shape;367;p61"/>
          <p:cNvSpPr/>
          <p:nvPr/>
        </p:nvSpPr>
        <p:spPr>
          <a:xfrm>
            <a:off x="300813" y="1636075"/>
            <a:ext cx="2615100" cy="19524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61"/>
          <p:cNvSpPr txBox="1"/>
          <p:nvPr/>
        </p:nvSpPr>
        <p:spPr>
          <a:xfrm>
            <a:off x="535800" y="1151300"/>
            <a:ext cx="81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61"/>
          <p:cNvSpPr/>
          <p:nvPr/>
        </p:nvSpPr>
        <p:spPr>
          <a:xfrm>
            <a:off x="286350" y="1151300"/>
            <a:ext cx="5488800" cy="4002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lt1"/>
                </a:solidFill>
              </a:rPr>
              <a:t>Phase 1 (POC)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70" name="Google Shape;370;p61"/>
          <p:cNvSpPr/>
          <p:nvPr/>
        </p:nvSpPr>
        <p:spPr>
          <a:xfrm>
            <a:off x="6468350" y="1151300"/>
            <a:ext cx="2269200" cy="4002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lt1"/>
                </a:solidFill>
              </a:rPr>
              <a:t>Phase 2 (Rollout)</a:t>
            </a:r>
            <a:endParaRPr b="1">
              <a:solidFill>
                <a:schemeClr val="lt1"/>
              </a:solidFill>
            </a:endParaRPr>
          </a:p>
        </p:txBody>
      </p:sp>
      <p:graphicFrame>
        <p:nvGraphicFramePr>
          <p:cNvPr id="371" name="Google Shape;371;p61"/>
          <p:cNvGraphicFramePr/>
          <p:nvPr/>
        </p:nvGraphicFramePr>
        <p:xfrm>
          <a:off x="510587" y="16986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{22A3B9CE-418E-434F-BF71-414BA2EF0C03}</a:tableStyleId>
              </a:tblPr>
              <a:tblGrid>
                <a:gridCol w="2195575"/>
              </a:tblGrid>
              <a:tr h="361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>
                          <a:solidFill>
                            <a:schemeClr val="dk2"/>
                          </a:solidFill>
                        </a:rPr>
                        <a:t>3月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2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chemeClr val="dk2"/>
                          </a:solidFill>
                        </a:rPr>
                        <a:t>Workshop 1 (3/5)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ja" sz="1200">
                          <a:solidFill>
                            <a:schemeClr val="dk2"/>
                          </a:solidFill>
                        </a:rPr>
                        <a:t>AI</a:t>
                      </a:r>
                      <a:r>
                        <a:rPr lang="ja" sz="1200">
                          <a:solidFill>
                            <a:schemeClr val="dk2"/>
                          </a:solidFill>
                        </a:rPr>
                        <a:t>自動化ツール入門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chemeClr val="dk2"/>
                          </a:solidFill>
                        </a:rPr>
                        <a:t>Workshop 2  (3/12)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ja" sz="1100">
                          <a:solidFill>
                            <a:schemeClr val="dk2"/>
                          </a:solidFill>
                        </a:rPr>
                        <a:t>お悩み診断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2" name="Google Shape;372;p61"/>
          <p:cNvSpPr/>
          <p:nvPr/>
        </p:nvSpPr>
        <p:spPr>
          <a:xfrm>
            <a:off x="3040666" y="3401447"/>
            <a:ext cx="312600" cy="258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61"/>
          <p:cNvSpPr/>
          <p:nvPr/>
        </p:nvSpPr>
        <p:spPr>
          <a:xfrm>
            <a:off x="5976525" y="3401447"/>
            <a:ext cx="312600" cy="258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74" name="Google Shape;374;p61"/>
          <p:cNvGraphicFramePr/>
          <p:nvPr/>
        </p:nvGraphicFramePr>
        <p:xfrm>
          <a:off x="3577962" y="16986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{22A3B9CE-418E-434F-BF71-414BA2EF0C03}</a:tableStyleId>
              </a:tblPr>
              <a:tblGrid>
                <a:gridCol w="2109575"/>
              </a:tblGrid>
              <a:tr h="464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>
                          <a:solidFill>
                            <a:schemeClr val="dk2"/>
                          </a:solidFill>
                        </a:rPr>
                        <a:t>3月末〜4月中旬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0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chemeClr val="dk2"/>
                          </a:solidFill>
                        </a:rPr>
                        <a:t>Workshop 3 (3/18)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ja" sz="1200">
                          <a:solidFill>
                            <a:schemeClr val="dk2"/>
                          </a:solidFill>
                        </a:rPr>
                        <a:t>AIツール活用編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chemeClr val="dk2"/>
                          </a:solidFill>
                        </a:rPr>
                        <a:t>Workshop 4 (~4/14)</a:t>
                      </a:r>
                      <a:r>
                        <a:rPr lang="ja">
                          <a:solidFill>
                            <a:schemeClr val="dk2"/>
                          </a:solidFill>
                        </a:rPr>
                        <a:t> 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ja" sz="1200">
                          <a:solidFill>
                            <a:schemeClr val="dk2"/>
                          </a:solidFill>
                        </a:rPr>
                        <a:t>プロトタイプ作成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75" name="Google Shape;375;p61"/>
          <p:cNvGraphicFramePr/>
          <p:nvPr/>
        </p:nvGraphicFramePr>
        <p:xfrm>
          <a:off x="6537837" y="16986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{22A3B9CE-418E-434F-BF71-414BA2EF0C03}</a:tableStyleId>
              </a:tblPr>
              <a:tblGrid>
                <a:gridCol w="2034575"/>
              </a:tblGrid>
              <a:tr h="464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>
                          <a:solidFill>
                            <a:schemeClr val="dk2"/>
                          </a:solidFill>
                        </a:rPr>
                        <a:t>4月末〜6月中旬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0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chemeClr val="dk2"/>
                          </a:solidFill>
                        </a:rPr>
                        <a:t>実装・展開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ja" sz="1200">
                          <a:solidFill>
                            <a:schemeClr val="dk2"/>
                          </a:solidFill>
                        </a:rPr>
                        <a:t>実際の業務へ導入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76" name="Google Shape;376;p61"/>
          <p:cNvGraphicFramePr/>
          <p:nvPr/>
        </p:nvGraphicFramePr>
        <p:xfrm>
          <a:off x="3577974" y="36730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{22A3B9CE-418E-434F-BF71-414BA2EF0C03}</a:tableStyleId>
              </a:tblPr>
              <a:tblGrid>
                <a:gridCol w="2034575"/>
              </a:tblGrid>
              <a:tr h="412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>
                          <a:solidFill>
                            <a:schemeClr val="dk2"/>
                          </a:solidFill>
                        </a:rPr>
                        <a:t>4/15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55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rgbClr val="FF0000"/>
                          </a:solidFill>
                        </a:rPr>
                        <a:t>Demo Day 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 sz="1200">
                          <a:solidFill>
                            <a:schemeClr val="dk2"/>
                          </a:solidFill>
                        </a:rPr>
                        <a:t>開発したPOCを披露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77" name="Google Shape;377;p61"/>
          <p:cNvGraphicFramePr/>
          <p:nvPr/>
        </p:nvGraphicFramePr>
        <p:xfrm>
          <a:off x="510587" y="36730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{22A3B9CE-418E-434F-BF71-414BA2EF0C03}</a:tableStyleId>
              </a:tblPr>
              <a:tblGrid>
                <a:gridCol w="2195575"/>
              </a:tblGrid>
              <a:tr h="353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>
                          <a:solidFill>
                            <a:schemeClr val="dk2"/>
                          </a:solidFill>
                        </a:rPr>
                        <a:t>〜3/17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2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rgbClr val="FF0000"/>
                          </a:solidFill>
                        </a:rPr>
                        <a:t>CTO Prize参加申し込み</a:t>
                      </a:r>
                      <a:r>
                        <a:rPr lang="ja">
                          <a:solidFill>
                            <a:schemeClr val="dk2"/>
                          </a:solidFill>
                        </a:rPr>
                        <a:t> 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 sz="1100">
                          <a:solidFill>
                            <a:schemeClr val="dk2"/>
                          </a:solidFill>
                        </a:rPr>
                        <a:t>アイデアを持ってエントリー！メンターとのマッチングを行います。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78" name="Google Shape;378;p61"/>
          <p:cNvGraphicFramePr/>
          <p:nvPr/>
        </p:nvGraphicFramePr>
        <p:xfrm>
          <a:off x="6468349" y="36730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{22A3B9CE-418E-434F-BF71-414BA2EF0C03}</a:tableStyleId>
              </a:tblPr>
              <a:tblGrid>
                <a:gridCol w="2034575"/>
              </a:tblGrid>
              <a:tr h="412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>
                          <a:solidFill>
                            <a:schemeClr val="dk2"/>
                          </a:solidFill>
                        </a:rPr>
                        <a:t>6/17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55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rgbClr val="FF0000"/>
                          </a:solidFill>
                        </a:rPr>
                        <a:t>Demo Day 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 sz="1200">
                          <a:solidFill>
                            <a:schemeClr val="dk2"/>
                          </a:solidFill>
                        </a:rPr>
                        <a:t>成果を発表し、プライズを勝ち取ろう！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2"/>
          <p:cNvSpPr txBox="1"/>
          <p:nvPr>
            <p:ph idx="2" type="subTitle"/>
          </p:nvPr>
        </p:nvSpPr>
        <p:spPr>
          <a:xfrm>
            <a:off x="231000" y="542275"/>
            <a:ext cx="87441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万全のサポート体制</a:t>
            </a:r>
            <a:endParaRPr/>
          </a:p>
        </p:txBody>
      </p:sp>
      <p:sp>
        <p:nvSpPr>
          <p:cNvPr id="384" name="Google Shape;384;p62"/>
          <p:cNvSpPr txBox="1"/>
          <p:nvPr>
            <p:ph idx="1" type="body"/>
          </p:nvPr>
        </p:nvSpPr>
        <p:spPr>
          <a:xfrm>
            <a:off x="220625" y="1175900"/>
            <a:ext cx="8655600" cy="3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2"/>
                </a:solidFill>
                <a:highlight>
                  <a:schemeClr val="lt1"/>
                </a:highlight>
              </a:rPr>
              <a:t>「技術的な知識がないから不安……」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2"/>
                </a:solidFill>
              </a:rPr>
              <a:t>という方もご安心ください！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2"/>
                </a:solidFill>
                <a:highlight>
                  <a:schemeClr val="lt1"/>
                </a:highlight>
              </a:rPr>
              <a:t>メンターがあなたの挑戦を全力でバックアップします：</a:t>
            </a:r>
            <a:endParaRPr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ja" sz="1200">
                <a:solidFill>
                  <a:schemeClr val="dk2"/>
                </a:solidFill>
              </a:rPr>
              <a:t>現場の「悩み」をテクノロジーの力で「解決策」へと変える</a:t>
            </a:r>
            <a:endParaRPr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ja" sz="1200">
                <a:solidFill>
                  <a:schemeClr val="dk2"/>
                </a:solidFill>
              </a:rPr>
              <a:t>環境構築のサポートや、AIツールの使い方のレクチャー</a:t>
            </a:r>
            <a:endParaRPr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ja" sz="1200">
                <a:solidFill>
                  <a:schemeClr val="dk2"/>
                </a:solidFill>
              </a:rPr>
              <a:t>実際に動作するプロトタイプ・POCの作成をガイド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2"/>
                </a:solidFill>
                <a:highlight>
                  <a:schemeClr val="lt1"/>
                </a:highlight>
              </a:rPr>
              <a:t>参加へのステップ</a:t>
            </a:r>
            <a:endParaRPr sz="12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b="1" lang="ja" sz="1200">
                <a:solidFill>
                  <a:schemeClr val="dk2"/>
                </a:solidFill>
              </a:rPr>
              <a:t>Slackチャンネルに参加：</a:t>
            </a:r>
            <a:r>
              <a:rPr b="1" lang="ja" sz="1600">
                <a:solidFill>
                  <a:srgbClr val="FF0000"/>
                </a:solidFill>
              </a:rPr>
              <a:t>#cto-prize-help</a:t>
            </a:r>
            <a:r>
              <a:rPr lang="ja" sz="1200">
                <a:solidFill>
                  <a:schemeClr val="dk2"/>
                </a:solidFill>
              </a:rPr>
              <a:t> で最新情報の確認やチームメイト探しを。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600">
                <a:solidFill>
                  <a:srgbClr val="FF0000"/>
                </a:solidFill>
              </a:rPr>
              <a:t>+1</a:t>
            </a:r>
            <a:r>
              <a:rPr b="1" lang="ja" sz="1200">
                <a:solidFill>
                  <a:schemeClr val="dk2"/>
                </a:solidFill>
              </a:rPr>
              <a:t> でWorkshops 1 &amp; 2に参加：</a:t>
            </a:r>
            <a:r>
              <a:rPr lang="ja" sz="1200">
                <a:solidFill>
                  <a:schemeClr val="dk2"/>
                </a:solidFill>
              </a:rPr>
              <a:t>ツール活用術を学びましょう。</a:t>
            </a:r>
            <a:endParaRPr sz="12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b="1" lang="ja" sz="1200">
                <a:solidFill>
                  <a:schemeClr val="dk2"/>
                </a:solidFill>
              </a:rPr>
              <a:t>Pain Pointの投稿：</a:t>
            </a:r>
            <a:r>
              <a:rPr lang="ja" sz="1200">
                <a:solidFill>
                  <a:schemeClr val="dk2"/>
                </a:solidFill>
              </a:rPr>
              <a:t>「解決策はないけれど、こんな困りごとがある」という投稿も大歓迎です！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85" name="Google Shape;385;p62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2"/>
                </a:solidFill>
              </a:rPr>
              <a:t>CTO Prize Hackathon 2026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3"/>
          <p:cNvSpPr txBox="1"/>
          <p:nvPr>
            <p:ph idx="2" type="subTitle"/>
          </p:nvPr>
        </p:nvSpPr>
        <p:spPr>
          <a:xfrm>
            <a:off x="231000" y="542275"/>
            <a:ext cx="87441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よくある質問</a:t>
            </a:r>
            <a:endParaRPr/>
          </a:p>
        </p:txBody>
      </p:sp>
      <p:sp>
        <p:nvSpPr>
          <p:cNvPr id="391" name="Google Shape;391;p63"/>
          <p:cNvSpPr txBox="1"/>
          <p:nvPr>
            <p:ph idx="1" type="body"/>
          </p:nvPr>
        </p:nvSpPr>
        <p:spPr>
          <a:xfrm>
            <a:off x="220625" y="1162096"/>
            <a:ext cx="8655600" cy="39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2"/>
                </a:solidFill>
                <a:highlight>
                  <a:schemeClr val="lt1"/>
                </a:highlight>
              </a:rPr>
              <a:t>解決したい課題・悩みがまだ決まっていなくても、ワークショップに参加できますか？</a:t>
            </a:r>
            <a:endParaRPr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ja" sz="1200">
                <a:solidFill>
                  <a:schemeClr val="dk2"/>
                </a:solidFill>
              </a:rPr>
              <a:t>もちろんです、大歓迎です！</a:t>
            </a:r>
            <a:endParaRPr sz="1200"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b="1" lang="ja" sz="1200">
                <a:solidFill>
                  <a:srgbClr val="FF0000"/>
                </a:solidFill>
              </a:rPr>
              <a:t>Workshop 1 - AI自動化ツール入門</a:t>
            </a:r>
            <a:r>
              <a:rPr lang="ja" sz="1200">
                <a:solidFill>
                  <a:schemeClr val="dk2"/>
                </a:solidFill>
              </a:rPr>
              <a:t>は、どなたでも参加できるAIツールの入門編です。 </a:t>
            </a:r>
            <a:endParaRPr sz="1200"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b="1" lang="ja" sz="1200">
                <a:solidFill>
                  <a:srgbClr val="FF0000"/>
                </a:solidFill>
              </a:rPr>
              <a:t>Workshop 2 - お悩み診断</a:t>
            </a:r>
            <a:r>
              <a:rPr lang="ja" sz="1200">
                <a:solidFill>
                  <a:schemeClr val="dk2"/>
                </a:solidFill>
              </a:rPr>
              <a:t>は、自分の抱える課題を持ち寄り、メンターと一緒にAIでの解決策を議論する場です。</a:t>
            </a:r>
            <a:endParaRPr sz="1200">
              <a:solidFill>
                <a:schemeClr val="dk2"/>
              </a:solidFill>
            </a:endParaRPr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</a:pPr>
            <a:r>
              <a:rPr b="1" lang="ja" sz="1200">
                <a:solidFill>
                  <a:schemeClr val="dk2"/>
                </a:solidFill>
              </a:rPr>
              <a:t>お悩みがある方は、</a:t>
            </a:r>
            <a:r>
              <a:rPr b="1" lang="ja" sz="12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@Ian Cheng</a:t>
            </a:r>
            <a:r>
              <a:rPr b="1" lang="ja" sz="1200">
                <a:solidFill>
                  <a:schemeClr val="dk2"/>
                </a:solidFill>
              </a:rPr>
              <a:t>までお気軽にDMでお知らせくださいね！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b="1" lang="ja" sz="1200">
                <a:solidFill>
                  <a:srgbClr val="FF0000"/>
                </a:solidFill>
              </a:rPr>
              <a:t>上記のワークショップは17LIVE全従業員が対象です！</a:t>
            </a:r>
            <a:br>
              <a:rPr b="1" lang="ja" sz="1200">
                <a:solidFill>
                  <a:srgbClr val="FF0000"/>
                </a:solidFill>
              </a:rPr>
            </a:br>
            <a:r>
              <a:rPr lang="ja" sz="1200">
                <a:solidFill>
                  <a:schemeClr val="dk2"/>
                </a:solidFill>
              </a:rPr>
              <a:t>興味のある方は</a:t>
            </a:r>
            <a:r>
              <a:rPr lang="ja" sz="1200" u="sng">
                <a:solidFill>
                  <a:schemeClr val="hlink"/>
                </a:solidFill>
                <a:hlinkClick r:id="rId4"/>
              </a:rPr>
              <a:t>こちらの告知投稿</a:t>
            </a:r>
            <a:r>
              <a:rPr lang="ja" sz="1200">
                <a:solidFill>
                  <a:schemeClr val="dk2"/>
                </a:solidFill>
              </a:rPr>
              <a:t>に </a:t>
            </a:r>
            <a:r>
              <a:rPr b="1" lang="ja" sz="1600">
                <a:solidFill>
                  <a:srgbClr val="FF0000"/>
                </a:solidFill>
              </a:rPr>
              <a:t>+1 </a:t>
            </a:r>
            <a:r>
              <a:rPr lang="ja" sz="1200">
                <a:solidFill>
                  <a:schemeClr val="dk2"/>
                </a:solidFill>
              </a:rPr>
              <a:t>でリアクションしてください。</a:t>
            </a:r>
            <a:endParaRPr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b="1" lang="ja" sz="1200">
                <a:solidFill>
                  <a:schemeClr val="dk2"/>
                </a:solidFill>
              </a:rPr>
              <a:t>Workshop 1&amp;2</a:t>
            </a:r>
            <a:r>
              <a:rPr lang="ja" sz="1200">
                <a:solidFill>
                  <a:schemeClr val="dk2"/>
                </a:solidFill>
              </a:rPr>
              <a:t>に参加することで、</a:t>
            </a:r>
            <a:r>
              <a:rPr b="1" lang="ja" sz="1200">
                <a:solidFill>
                  <a:schemeClr val="dk2"/>
                </a:solidFill>
              </a:rPr>
              <a:t>CTO Prize Hackathon</a:t>
            </a:r>
            <a:r>
              <a:rPr lang="ja" sz="1200">
                <a:solidFill>
                  <a:schemeClr val="dk2"/>
                </a:solidFill>
              </a:rPr>
              <a:t>で取り組みたい課題のヒントがきっと見つかるはずです。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※ </a:t>
            </a:r>
            <a:r>
              <a:rPr b="1" lang="ja" sz="1100">
                <a:solidFill>
                  <a:schemeClr val="dk2"/>
                </a:solidFill>
              </a:rPr>
              <a:t>Workshops 3&amp;4</a:t>
            </a:r>
            <a:r>
              <a:rPr lang="ja" sz="1100">
                <a:solidFill>
                  <a:schemeClr val="dk2"/>
                </a:solidFill>
              </a:rPr>
              <a:t>は、</a:t>
            </a:r>
            <a:r>
              <a:rPr b="1" lang="ja" sz="1100">
                <a:solidFill>
                  <a:schemeClr val="dk2"/>
                </a:solidFill>
              </a:rPr>
              <a:t>CTO Prize Hackathon</a:t>
            </a:r>
            <a:r>
              <a:rPr lang="ja" sz="1100">
                <a:solidFill>
                  <a:schemeClr val="dk2"/>
                </a:solidFill>
              </a:rPr>
              <a:t>の</a:t>
            </a:r>
            <a:r>
              <a:rPr b="1" lang="ja" sz="1100">
                <a:solidFill>
                  <a:schemeClr val="dk2"/>
                </a:solidFill>
              </a:rPr>
              <a:t>本エントリーを完了したチーム</a:t>
            </a:r>
            <a:r>
              <a:rPr lang="ja" sz="1100">
                <a:solidFill>
                  <a:schemeClr val="dk2"/>
                </a:solidFill>
              </a:rPr>
              <a:t>のみが対象となります。ぜひエントリーして、課題解決に挑戦しましょう！ 🚀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2"/>
                </a:solidFill>
                <a:highlight>
                  <a:schemeClr val="lt1"/>
                </a:highlight>
              </a:rPr>
              <a:t>ワークショップはオンライン・対面のどちらで開催されますか？録画はありますか？</a:t>
            </a:r>
            <a:endParaRPr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b="1" lang="ja" sz="1100">
                <a:solidFill>
                  <a:schemeClr val="dk2"/>
                </a:solidFill>
              </a:rPr>
              <a:t>Workshops 1・2・3</a:t>
            </a:r>
            <a:r>
              <a:rPr lang="ja" sz="1100">
                <a:solidFill>
                  <a:schemeClr val="dk2"/>
                </a:solidFill>
              </a:rPr>
              <a:t>はすべて</a:t>
            </a:r>
            <a:r>
              <a:rPr b="1" lang="ja" sz="1100">
                <a:solidFill>
                  <a:schemeClr val="dk2"/>
                </a:solidFill>
              </a:rPr>
              <a:t>オンライン</a:t>
            </a:r>
            <a:r>
              <a:rPr lang="ja" sz="1100">
                <a:solidFill>
                  <a:schemeClr val="dk2"/>
                </a:solidFill>
              </a:rPr>
              <a:t>で開催され、後日アーカイブ動画も共有いたします。</a:t>
            </a:r>
            <a:endParaRPr sz="11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b="1" lang="ja" sz="1100">
                <a:solidFill>
                  <a:schemeClr val="dk2"/>
                </a:solidFill>
              </a:rPr>
              <a:t>Workshop 4 – メンターによるプロトタイピング支援</a:t>
            </a:r>
            <a:r>
              <a:rPr lang="ja" sz="1100">
                <a:solidFill>
                  <a:schemeClr val="dk2"/>
                </a:solidFill>
              </a:rPr>
              <a:t>については、各チームと担当メンターが相談し、個別に形式や頻度を決定します。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392" name="Google Shape;392;p63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2"/>
                </a:solidFill>
              </a:rPr>
              <a:t>CTO Prize Hackathon 2026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98" name="Google Shape;398;p64"/>
          <p:cNvSpPr txBox="1"/>
          <p:nvPr>
            <p:ph idx="1" type="subTitle"/>
          </p:nvPr>
        </p:nvSpPr>
        <p:spPr>
          <a:xfrm>
            <a:off x="3931725" y="2317800"/>
            <a:ext cx="4929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000"/>
              <a:t>Thank you</a:t>
            </a:r>
            <a:endParaRPr i="1" sz="2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5"/>
          <p:cNvSpPr txBox="1"/>
          <p:nvPr/>
        </p:nvSpPr>
        <p:spPr>
          <a:xfrm>
            <a:off x="5494550" y="2123925"/>
            <a:ext cx="34932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CTO Prize Hackathon 2026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lt1"/>
                </a:solidFill>
              </a:rPr>
              <a:t>Empower Every Employee with AI</a:t>
            </a:r>
            <a:endParaRPr b="1" i="1">
              <a:solidFill>
                <a:schemeClr val="lt1"/>
              </a:solidFill>
            </a:endParaRPr>
          </a:p>
        </p:txBody>
      </p:sp>
      <p:sp>
        <p:nvSpPr>
          <p:cNvPr id="404" name="Google Shape;404;p65"/>
          <p:cNvSpPr txBox="1"/>
          <p:nvPr/>
        </p:nvSpPr>
        <p:spPr>
          <a:xfrm>
            <a:off x="5875550" y="4257375"/>
            <a:ext cx="27258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2026.H1</a:t>
            </a:r>
            <a:endParaRPr b="1" sz="1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JS</a:t>
            </a:r>
            <a:endParaRPr b="1" sz="1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FFFFFF"/>
                </a:solidFill>
              </a:rPr>
              <a:t>17LIVE CTO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05" name="Google Shape;405;p65"/>
          <p:cNvSpPr txBox="1"/>
          <p:nvPr/>
        </p:nvSpPr>
        <p:spPr>
          <a:xfrm>
            <a:off x="5108150" y="2937325"/>
            <a:ext cx="349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lt1"/>
                </a:solidFill>
              </a:rPr>
              <a:t>中文版</a:t>
            </a:r>
            <a:endParaRPr b="1" i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6"/>
          <p:cNvSpPr txBox="1"/>
          <p:nvPr>
            <p:ph idx="2" type="subTitle"/>
          </p:nvPr>
        </p:nvSpPr>
        <p:spPr>
          <a:xfrm>
            <a:off x="231000" y="542275"/>
            <a:ext cx="87441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為什麼要辦這次的 CTO Prize Hackathon？</a:t>
            </a:r>
            <a:endParaRPr/>
          </a:p>
        </p:txBody>
      </p:sp>
      <p:sp>
        <p:nvSpPr>
          <p:cNvPr id="411" name="Google Shape;411;p66"/>
          <p:cNvSpPr txBox="1"/>
          <p:nvPr>
            <p:ph idx="1" type="body"/>
          </p:nvPr>
        </p:nvSpPr>
        <p:spPr>
          <a:xfrm>
            <a:off x="220625" y="1175900"/>
            <a:ext cx="7684500" cy="3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2"/>
                </a:solidFill>
                <a:highlight>
                  <a:schemeClr val="lt1"/>
                </a:highlight>
              </a:rPr>
              <a:t>Vision</a:t>
            </a:r>
            <a:endParaRPr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ja" sz="1200">
                <a:solidFill>
                  <a:schemeClr val="dk2"/>
                </a:solidFill>
              </a:rPr>
              <a:t>我們的願景是結合 AI 與系統工具，打造出更快速、更安全的 (Faster and Safer) 公司營運環境。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2"/>
                </a:solidFill>
                <a:highlight>
                  <a:schemeClr val="lt1"/>
                </a:highlight>
              </a:rPr>
              <a:t>Goal</a:t>
            </a:r>
            <a:endParaRPr sz="11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ja" sz="1200">
                <a:solidFill>
                  <a:schemeClr val="dk2"/>
                </a:solidFill>
              </a:rPr>
              <a:t>目標是將第一線營運的「痛點」轉換為 AI 驅動的解決方案。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2"/>
                </a:solidFill>
                <a:highlight>
                  <a:schemeClr val="lt1"/>
                </a:highlight>
              </a:rPr>
              <a:t>成功的關鍵指標</a:t>
            </a:r>
            <a:endParaRPr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b="1" lang="ja" sz="1200">
                <a:solidFill>
                  <a:schemeClr val="dk2"/>
                </a:solidFill>
              </a:rPr>
              <a:t>效率 (Efficiency)</a:t>
            </a:r>
            <a:r>
              <a:rPr lang="ja" sz="1200">
                <a:solidFill>
                  <a:schemeClr val="dk2"/>
                </a:solidFill>
              </a:rPr>
              <a:t>：節省每月人工作業時數</a:t>
            </a:r>
            <a:endParaRPr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b="1" lang="ja" sz="1200">
                <a:solidFill>
                  <a:schemeClr val="dk2"/>
                </a:solidFill>
              </a:rPr>
              <a:t>正確 (Accuracy)</a:t>
            </a:r>
            <a:r>
              <a:rPr lang="ja" sz="1200">
                <a:solidFill>
                  <a:schemeClr val="dk2"/>
                </a:solidFill>
              </a:rPr>
              <a:t>：降低人為操作的錯誤率</a:t>
            </a:r>
            <a:endParaRPr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b="1" lang="ja" sz="1200">
                <a:solidFill>
                  <a:schemeClr val="dk2"/>
                </a:solidFill>
              </a:rPr>
              <a:t>速度 (Speed)</a:t>
            </a:r>
            <a:r>
              <a:rPr lang="ja" sz="1200">
                <a:solidFill>
                  <a:schemeClr val="dk2"/>
                </a:solidFill>
              </a:rPr>
              <a:t>：加速重複性的技術或業務流程</a:t>
            </a:r>
            <a:endParaRPr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b="1" lang="ja" sz="1200">
                <a:solidFill>
                  <a:schemeClr val="dk2"/>
                </a:solidFill>
              </a:rPr>
              <a:t>成本 (Saving)</a:t>
            </a:r>
            <a:r>
              <a:rPr lang="ja" sz="1200">
                <a:solidFill>
                  <a:schemeClr val="dk2"/>
                </a:solidFill>
              </a:rPr>
              <a:t>：減少雲端、外部供應商或營運的成本</a:t>
            </a:r>
            <a:endParaRPr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b="1" lang="ja" sz="1200">
                <a:solidFill>
                  <a:schemeClr val="dk2"/>
                </a:solidFill>
              </a:rPr>
              <a:t>協作 (Coordination)</a:t>
            </a:r>
            <a:r>
              <a:rPr lang="ja" sz="1200">
                <a:solidFill>
                  <a:schemeClr val="dk2"/>
                </a:solidFill>
              </a:rPr>
              <a:t>：改善跨團隊的工作流程</a:t>
            </a:r>
            <a:endParaRPr b="1" sz="1600">
              <a:solidFill>
                <a:schemeClr val="dk2"/>
              </a:solidFill>
            </a:endParaRPr>
          </a:p>
        </p:txBody>
      </p:sp>
      <p:sp>
        <p:nvSpPr>
          <p:cNvPr id="412" name="Google Shape;412;p66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CTO Prize Hackathon 2026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7"/>
          <p:cNvSpPr txBox="1"/>
          <p:nvPr>
            <p:ph idx="2" type="subTitle"/>
          </p:nvPr>
        </p:nvSpPr>
        <p:spPr>
          <a:xfrm>
            <a:off x="231000" y="542275"/>
            <a:ext cx="87441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參賽規則</a:t>
            </a:r>
            <a:endParaRPr/>
          </a:p>
        </p:txBody>
      </p:sp>
      <p:sp>
        <p:nvSpPr>
          <p:cNvPr id="418" name="Google Shape;418;p67"/>
          <p:cNvSpPr txBox="1"/>
          <p:nvPr>
            <p:ph idx="1" type="body"/>
          </p:nvPr>
        </p:nvSpPr>
        <p:spPr>
          <a:xfrm>
            <a:off x="220625" y="1175900"/>
            <a:ext cx="7609200" cy="3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>
                <a:solidFill>
                  <a:schemeClr val="dk2"/>
                </a:solidFill>
                <a:highlight>
                  <a:schemeClr val="lt1"/>
                </a:highlight>
              </a:rPr>
              <a:t>參賽資格</a:t>
            </a:r>
            <a:endParaRPr sz="1200">
              <a:solidFill>
                <a:schemeClr val="dk2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ja" sz="1200">
                <a:solidFill>
                  <a:schemeClr val="dk2"/>
                </a:solidFill>
              </a:rPr>
              <a:t>所有正職員工均可參賽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2"/>
                </a:solidFill>
                <a:highlight>
                  <a:schemeClr val="lt1"/>
                </a:highlight>
              </a:rPr>
              <a:t>團隊組成</a:t>
            </a:r>
            <a:endParaRPr sz="1200">
              <a:solidFill>
                <a:schemeClr val="dk2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ja" sz="1200">
                <a:solidFill>
                  <a:schemeClr val="dk2"/>
                </a:solidFill>
              </a:rPr>
              <a:t>每隊 1-5 人</a:t>
            </a:r>
            <a:endParaRPr sz="1200">
              <a:solidFill>
                <a:schemeClr val="dk2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ja" sz="1200">
                <a:solidFill>
                  <a:schemeClr val="dk2"/>
                </a:solidFill>
              </a:rPr>
              <a:t>強烈鼓勵「跨區域」及「跨職能」合作（例如：營運單位 + 技術單位）</a:t>
            </a:r>
            <a:endParaRPr sz="1200">
              <a:solidFill>
                <a:schemeClr val="dk2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ja" sz="1200">
                <a:solidFill>
                  <a:schemeClr val="dk2"/>
                </a:solidFill>
              </a:rPr>
              <a:t>提供導師 (Mentor) 與技術支援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 u="sng">
                <a:solidFill>
                  <a:schemeClr val="hlink"/>
                </a:solidFill>
                <a:hlinkClick r:id="rId3"/>
              </a:rPr>
              <a:t>AI 自動化工具實用範例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419" name="Google Shape;419;p67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2"/>
                </a:solidFill>
              </a:rPr>
              <a:t>CTO Prize Hackathon 2026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8"/>
          <p:cNvSpPr/>
          <p:nvPr/>
        </p:nvSpPr>
        <p:spPr>
          <a:xfrm>
            <a:off x="145673" y="3136220"/>
            <a:ext cx="8575500" cy="1814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68"/>
          <p:cNvSpPr txBox="1"/>
          <p:nvPr>
            <p:ph idx="2" type="subTitle"/>
          </p:nvPr>
        </p:nvSpPr>
        <p:spPr>
          <a:xfrm>
            <a:off x="231000" y="542275"/>
            <a:ext cx="87441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</a:rPr>
              <a:t>Phase 1: POC Demo Day </a:t>
            </a:r>
            <a:r>
              <a:rPr lang="ja">
                <a:solidFill>
                  <a:srgbClr val="FF0000"/>
                </a:solidFill>
              </a:rPr>
              <a:t>(4/15)</a:t>
            </a:r>
            <a:r>
              <a:rPr lang="ja">
                <a:solidFill>
                  <a:schemeClr val="dk1"/>
                </a:solidFill>
              </a:rPr>
              <a:t>：</a:t>
            </a:r>
            <a:r>
              <a:rPr lang="ja">
                <a:solidFill>
                  <a:schemeClr val="dk1"/>
                </a:solidFill>
              </a:rPr>
              <a:t>規則及評分標準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26" name="Google Shape;426;p68"/>
          <p:cNvSpPr txBox="1"/>
          <p:nvPr>
            <p:ph idx="1" type="body"/>
          </p:nvPr>
        </p:nvSpPr>
        <p:spPr>
          <a:xfrm>
            <a:off x="231000" y="937272"/>
            <a:ext cx="8798400" cy="41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>
                <a:solidFill>
                  <a:schemeClr val="dk2"/>
                </a:solidFill>
              </a:rPr>
              <a:t>POC </a:t>
            </a:r>
            <a:r>
              <a:rPr b="1" lang="ja">
                <a:solidFill>
                  <a:schemeClr val="dk2"/>
                </a:solidFill>
              </a:rPr>
              <a:t>作品提交</a:t>
            </a:r>
            <a:r>
              <a:rPr b="1" lang="ja">
                <a:solidFill>
                  <a:schemeClr val="dk2"/>
                </a:solidFill>
              </a:rPr>
              <a:t>要求</a:t>
            </a:r>
            <a:endParaRPr b="1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提出痛點</a:t>
            </a:r>
            <a:r>
              <a:rPr lang="ja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須明確定義出想要解決的營運瓶頸或手工作業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展示解決方案</a:t>
            </a:r>
            <a:r>
              <a:rPr lang="ja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展示出隊伍製作的 AI 自動化工具流程（比如背後的邏輯與整合工具等）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備註：此階段不需要完全整合至實際工作環境。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定義成功指標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為 Rollout 階段提出明確目標（例如：省下來的人工時數、人為錯誤或成本降低的比例）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>
                <a:solidFill>
                  <a:schemeClr val="dk2"/>
                </a:solidFill>
              </a:rPr>
              <a:t>評分標準</a:t>
            </a:r>
            <a:r>
              <a:rPr b="1" lang="ja">
                <a:solidFill>
                  <a:schemeClr val="dk2"/>
                </a:solidFill>
              </a:rPr>
              <a:t> (Phase 1) </a:t>
            </a:r>
            <a:r>
              <a:rPr i="1" lang="ja">
                <a:solidFill>
                  <a:schemeClr val="dk2"/>
                </a:solidFill>
              </a:rPr>
              <a:t>此階段會由 CTO Prize Hackaton 團隊和 Mentor 以五星制進行評分</a:t>
            </a:r>
            <a:endParaRPr b="1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30%  </a:t>
            </a:r>
            <a:r>
              <a:rPr b="1" lang="ja" sz="1200">
                <a:solidFill>
                  <a:schemeClr val="dk2"/>
                </a:solidFill>
              </a:rPr>
              <a:t>問題解決與目標設定</a:t>
            </a:r>
            <a:r>
              <a:rPr lang="ja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是否明確訂出痛點與解決方案，以及目標 KPI 是否精確訂定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30%  </a:t>
            </a:r>
            <a:r>
              <a:rPr b="1" lang="ja" sz="1200">
                <a:solidFill>
                  <a:schemeClr val="dk2"/>
                </a:solidFill>
              </a:rPr>
              <a:t>工作流程的完整度</a:t>
            </a:r>
            <a:r>
              <a:rPr lang="ja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自動化工作流程是否完整並有邏輯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40%  </a:t>
            </a:r>
            <a:r>
              <a:rPr b="1" lang="ja" sz="1200">
                <a:solidFill>
                  <a:schemeClr val="dk2"/>
                </a:solidFill>
              </a:rPr>
              <a:t>員工投票</a:t>
            </a:r>
            <a:r>
              <a:rPr b="1" lang="ja" sz="1200">
                <a:solidFill>
                  <a:schemeClr val="dk2"/>
                </a:solidFill>
              </a:rPr>
              <a:t> </a:t>
            </a:r>
            <a:endParaRPr b="1"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詳情請見下一頁！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427" name="Google Shape;427;p68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CTO Prize Hackathon 2026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28" name="Google Shape;428;p68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2"/>
                </a:solidFill>
              </a:rPr>
              <a:t>CTO Prize Hackathon 2026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9"/>
          <p:cNvSpPr/>
          <p:nvPr/>
        </p:nvSpPr>
        <p:spPr>
          <a:xfrm>
            <a:off x="145675" y="3857618"/>
            <a:ext cx="8575500" cy="11475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69"/>
          <p:cNvSpPr txBox="1"/>
          <p:nvPr>
            <p:ph idx="1" type="body"/>
          </p:nvPr>
        </p:nvSpPr>
        <p:spPr>
          <a:xfrm>
            <a:off x="231000" y="1065475"/>
            <a:ext cx="8603400" cy="40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2"/>
                </a:solidFill>
              </a:rPr>
              <a:t>為了確保</a:t>
            </a:r>
            <a:r>
              <a:rPr lang="ja" sz="1200">
                <a:solidFill>
                  <a:schemeClr val="dk2"/>
                </a:solidFill>
              </a:rPr>
              <a:t>大家</a:t>
            </a:r>
            <a:r>
              <a:rPr lang="ja" sz="1200">
                <a:solidFill>
                  <a:schemeClr val="dk2"/>
                </a:solidFill>
              </a:rPr>
              <a:t>都有機會看到精彩的 AI 解決方案，</a:t>
            </a:r>
            <a:r>
              <a:rPr lang="ja" sz="1200">
                <a:solidFill>
                  <a:schemeClr val="dk2"/>
                </a:solidFill>
              </a:rPr>
              <a:t>其中一項計分項目會用</a:t>
            </a:r>
            <a:r>
              <a:rPr b="1" lang="ja" sz="1200">
                <a:solidFill>
                  <a:schemeClr val="dk2"/>
                </a:solidFill>
              </a:rPr>
              <a:t>員工</a:t>
            </a:r>
            <a:r>
              <a:rPr b="1" lang="ja" sz="1200">
                <a:solidFill>
                  <a:schemeClr val="dk2"/>
                </a:solidFill>
              </a:rPr>
              <a:t>投票</a:t>
            </a:r>
            <a:r>
              <a:rPr lang="ja" sz="1200">
                <a:solidFill>
                  <a:schemeClr val="dk2"/>
                </a:solidFill>
              </a:rPr>
              <a:t>活動</a:t>
            </a:r>
            <a:r>
              <a:rPr lang="ja" sz="1200">
                <a:solidFill>
                  <a:schemeClr val="dk2"/>
                </a:solidFill>
              </a:rPr>
              <a:t>進行</a:t>
            </a:r>
            <a:r>
              <a:rPr lang="ja" sz="1200">
                <a:solidFill>
                  <a:schemeClr val="dk2"/>
                </a:solidFill>
              </a:rPr>
              <a:t>！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作品提交要求</a:t>
            </a:r>
            <a:r>
              <a:rPr lang="ja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每支隊伍必須提交一段</a:t>
            </a:r>
            <a:r>
              <a:rPr b="1" lang="ja" sz="1200">
                <a:solidFill>
                  <a:schemeClr val="dk2"/>
                </a:solidFill>
              </a:rPr>
              <a:t>示範</a:t>
            </a:r>
            <a:r>
              <a:rPr b="1" lang="ja" sz="1200">
                <a:solidFill>
                  <a:schemeClr val="dk2"/>
                </a:solidFill>
              </a:rPr>
              <a:t>短</a:t>
            </a:r>
            <a:r>
              <a:rPr b="1" lang="ja" sz="1200">
                <a:solidFill>
                  <a:schemeClr val="dk2"/>
                </a:solidFill>
              </a:rPr>
              <a:t>片（3-5 分鐘）</a:t>
            </a:r>
            <a:r>
              <a:rPr lang="ja" sz="1200">
                <a:solidFill>
                  <a:schemeClr val="dk2"/>
                </a:solidFill>
              </a:rPr>
              <a:t>和一份 </a:t>
            </a:r>
            <a:r>
              <a:rPr b="1" lang="ja" sz="1200">
                <a:solidFill>
                  <a:schemeClr val="dk2"/>
                </a:solidFill>
              </a:rPr>
              <a:t>3 頁的投影片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流程為：定義痛點</a:t>
            </a:r>
            <a:r>
              <a:rPr lang="ja" sz="1200">
                <a:solidFill>
                  <a:schemeClr val="dk2"/>
                </a:solidFill>
              </a:rPr>
              <a:t> ⭢ </a:t>
            </a:r>
            <a:r>
              <a:rPr lang="ja" sz="1200">
                <a:solidFill>
                  <a:schemeClr val="dk2"/>
                </a:solidFill>
              </a:rPr>
              <a:t>展示自動化工作流程</a:t>
            </a:r>
            <a:r>
              <a:rPr lang="ja" sz="1200">
                <a:solidFill>
                  <a:schemeClr val="dk2"/>
                </a:solidFill>
              </a:rPr>
              <a:t> ⭢ </a:t>
            </a:r>
            <a:r>
              <a:rPr lang="ja" sz="1200">
                <a:solidFill>
                  <a:schemeClr val="dk2"/>
                </a:solidFill>
              </a:rPr>
              <a:t>說明目標指標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投票時間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b="1" lang="ja" sz="1200">
                <a:solidFill>
                  <a:schemeClr val="dk2"/>
                </a:solidFill>
              </a:rPr>
              <a:t>開始：</a:t>
            </a:r>
            <a:r>
              <a:rPr lang="ja" sz="1200">
                <a:solidFill>
                  <a:schemeClr val="dk2"/>
                </a:solidFill>
              </a:rPr>
              <a:t>Demo Day 1 </a:t>
            </a:r>
            <a:r>
              <a:rPr lang="ja" sz="1200">
                <a:solidFill>
                  <a:schemeClr val="dk2"/>
                </a:solidFill>
              </a:rPr>
              <a:t>的 3 天前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b="1" lang="ja" sz="1200">
                <a:solidFill>
                  <a:schemeClr val="dk2"/>
                </a:solidFill>
              </a:rPr>
              <a:t>結束：</a:t>
            </a:r>
            <a:r>
              <a:rPr lang="ja" sz="1200">
                <a:solidFill>
                  <a:schemeClr val="dk2"/>
                </a:solidFill>
              </a:rPr>
              <a:t>Demo Day 1 </a:t>
            </a:r>
            <a:r>
              <a:rPr lang="ja" sz="1200">
                <a:solidFill>
                  <a:schemeClr val="dk2"/>
                </a:solidFill>
              </a:rPr>
              <a:t>當天結束時</a:t>
            </a:r>
            <a:r>
              <a:rPr lang="ja" sz="1200">
                <a:solidFill>
                  <a:schemeClr val="dk2"/>
                </a:solidFill>
              </a:rPr>
              <a:t> (EOD)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投票地點</a:t>
            </a:r>
            <a:r>
              <a:rPr lang="ja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所有參賽作品都會到</a:t>
            </a:r>
            <a:r>
              <a:rPr lang="ja" sz="1200">
                <a:solidFill>
                  <a:schemeClr val="dk2"/>
                </a:solidFill>
              </a:rPr>
              <a:t> </a:t>
            </a:r>
            <a:r>
              <a:rPr b="1" lang="ja" sz="1200">
                <a:solidFill>
                  <a:schemeClr val="dk2"/>
                </a:solidFill>
              </a:rPr>
              <a:t>#global-announcement</a:t>
            </a:r>
            <a:r>
              <a:rPr lang="ja" sz="1200">
                <a:solidFill>
                  <a:schemeClr val="dk2"/>
                </a:solidFill>
              </a:rPr>
              <a:t> 發表。請投給自己認為最有影響力的 AI 解決方案！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評分加權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員工投票佔</a:t>
            </a:r>
            <a:r>
              <a:rPr lang="ja" sz="1200">
                <a:solidFill>
                  <a:schemeClr val="dk2"/>
                </a:solidFill>
              </a:rPr>
              <a:t> </a:t>
            </a:r>
            <a:r>
              <a:rPr b="1" lang="ja" sz="1200">
                <a:solidFill>
                  <a:schemeClr val="dk2"/>
                </a:solidFill>
              </a:rPr>
              <a:t>P</a:t>
            </a:r>
            <a:r>
              <a:rPr b="1" lang="ja" sz="1200">
                <a:solidFill>
                  <a:schemeClr val="dk2"/>
                </a:solidFill>
              </a:rPr>
              <a:t>hase 1 </a:t>
            </a:r>
            <a:r>
              <a:rPr b="1" lang="ja" sz="1200">
                <a:solidFill>
                  <a:schemeClr val="dk2"/>
                </a:solidFill>
              </a:rPr>
              <a:t>總分的 </a:t>
            </a:r>
            <a:r>
              <a:rPr b="1" lang="ja" sz="1200">
                <a:solidFill>
                  <a:schemeClr val="dk2"/>
                </a:solidFill>
              </a:rPr>
              <a:t>40%</a:t>
            </a:r>
            <a:br>
              <a:rPr lang="ja" sz="1200">
                <a:solidFill>
                  <a:schemeClr val="dk2"/>
                </a:solidFill>
              </a:rPr>
            </a:b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2"/>
                </a:solidFill>
              </a:rPr>
              <a:t>獎項及選拔細節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前</a:t>
            </a:r>
            <a:r>
              <a:rPr b="1" lang="ja" sz="1200">
                <a:solidFill>
                  <a:schemeClr val="dk2"/>
                </a:solidFill>
              </a:rPr>
              <a:t> 5 </a:t>
            </a:r>
            <a:r>
              <a:rPr b="1" lang="ja" sz="1200">
                <a:solidFill>
                  <a:schemeClr val="dk2"/>
                </a:solidFill>
              </a:rPr>
              <a:t>名</a:t>
            </a:r>
            <a:endParaRPr b="1" sz="1200">
              <a:solidFill>
                <a:schemeClr val="dk2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每隊可獲得 </a:t>
            </a:r>
            <a:r>
              <a:rPr b="1" lang="ja" sz="1200">
                <a:solidFill>
                  <a:srgbClr val="FF0000"/>
                </a:solidFill>
              </a:rPr>
              <a:t>¥10,000</a:t>
            </a:r>
            <a:r>
              <a:rPr lang="ja" sz="1200">
                <a:solidFill>
                  <a:schemeClr val="dk2"/>
                </a:solidFill>
              </a:rPr>
              <a:t> 獎勵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前</a:t>
            </a:r>
            <a:r>
              <a:rPr b="1" lang="ja" sz="1200">
                <a:solidFill>
                  <a:schemeClr val="dk2"/>
                </a:solidFill>
              </a:rPr>
              <a:t> 10 </a:t>
            </a:r>
            <a:r>
              <a:rPr b="1" lang="ja" sz="1200">
                <a:solidFill>
                  <a:schemeClr val="dk2"/>
                </a:solidFill>
              </a:rPr>
              <a:t>名</a:t>
            </a:r>
            <a:r>
              <a:rPr lang="ja" sz="1200">
                <a:solidFill>
                  <a:schemeClr val="dk2"/>
                </a:solidFill>
              </a:rPr>
              <a:t>可晉級到</a:t>
            </a:r>
            <a:r>
              <a:rPr lang="ja" sz="1200">
                <a:solidFill>
                  <a:schemeClr val="dk2"/>
                </a:solidFill>
              </a:rPr>
              <a:t> Phase 2 Rollout </a:t>
            </a:r>
            <a:r>
              <a:rPr lang="ja" sz="1200">
                <a:solidFill>
                  <a:schemeClr val="dk2"/>
                </a:solidFill>
              </a:rPr>
              <a:t>階段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435" name="Google Shape;435;p69"/>
          <p:cNvSpPr txBox="1"/>
          <p:nvPr>
            <p:ph idx="2" type="subTitle"/>
          </p:nvPr>
        </p:nvSpPr>
        <p:spPr>
          <a:xfrm>
            <a:off x="231000" y="542275"/>
            <a:ext cx="87441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</a:rPr>
              <a:t>Phase 1: POC Demo Day</a:t>
            </a:r>
            <a:r>
              <a:rPr lang="ja">
                <a:solidFill>
                  <a:schemeClr val="dk1"/>
                </a:solidFill>
              </a:rPr>
              <a:t> </a:t>
            </a:r>
            <a:r>
              <a:rPr lang="ja">
                <a:solidFill>
                  <a:srgbClr val="FF0000"/>
                </a:solidFill>
              </a:rPr>
              <a:t>(4/15)</a:t>
            </a:r>
            <a:r>
              <a:rPr lang="ja">
                <a:solidFill>
                  <a:schemeClr val="dk1"/>
                </a:solidFill>
              </a:rPr>
              <a:t>：</a:t>
            </a:r>
            <a:r>
              <a:rPr lang="ja">
                <a:solidFill>
                  <a:schemeClr val="dk1"/>
                </a:solidFill>
              </a:rPr>
              <a:t>獎項及選拔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36" name="Google Shape;436;p69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2"/>
                </a:solidFill>
              </a:rPr>
              <a:t>CTO Prize Hackathon 2026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70"/>
          <p:cNvSpPr/>
          <p:nvPr/>
        </p:nvSpPr>
        <p:spPr>
          <a:xfrm>
            <a:off x="176875" y="3010166"/>
            <a:ext cx="8575500" cy="18756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70"/>
          <p:cNvSpPr txBox="1"/>
          <p:nvPr>
            <p:ph idx="2" type="subTitle"/>
          </p:nvPr>
        </p:nvSpPr>
        <p:spPr>
          <a:xfrm>
            <a:off x="231000" y="542275"/>
            <a:ext cx="87441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</a:rPr>
              <a:t>Phase 2: Rollout Demo Day</a:t>
            </a:r>
            <a:r>
              <a:rPr lang="ja">
                <a:solidFill>
                  <a:schemeClr val="dk2"/>
                </a:solidFill>
              </a:rPr>
              <a:t> </a:t>
            </a:r>
            <a:r>
              <a:rPr lang="ja">
                <a:solidFill>
                  <a:srgbClr val="FF0000"/>
                </a:solidFill>
              </a:rPr>
              <a:t>(6/17)</a:t>
            </a:r>
            <a:r>
              <a:rPr lang="ja">
                <a:solidFill>
                  <a:schemeClr val="dk1"/>
                </a:solidFill>
              </a:rPr>
              <a:t>：</a:t>
            </a:r>
            <a:r>
              <a:rPr lang="ja">
                <a:solidFill>
                  <a:schemeClr val="dk1"/>
                </a:solidFill>
              </a:rPr>
              <a:t>規則及評分標準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43" name="Google Shape;443;p70"/>
          <p:cNvSpPr txBox="1"/>
          <p:nvPr>
            <p:ph idx="1" type="body"/>
          </p:nvPr>
        </p:nvSpPr>
        <p:spPr>
          <a:xfrm>
            <a:off x="231000" y="1022174"/>
            <a:ext cx="8382300" cy="41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2"/>
                </a:solidFill>
              </a:rPr>
              <a:t>最終簡報要求</a:t>
            </a:r>
            <a:endParaRPr b="1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揭曉</a:t>
            </a:r>
            <a:r>
              <a:rPr b="1" lang="ja" sz="1200">
                <a:solidFill>
                  <a:schemeClr val="dk2"/>
                </a:solidFill>
              </a:rPr>
              <a:t>實作作品</a:t>
            </a:r>
            <a:r>
              <a:rPr lang="ja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展示實際運作的 AI 自動化工具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Before &amp; After</a:t>
            </a:r>
            <a:r>
              <a:rPr lang="ja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展示工作流程的轉變，以及 AI 實作所帶來的實際差異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成果驗證</a:t>
            </a:r>
            <a:r>
              <a:rPr lang="ja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報告最終成果——驗證是否達成 POC 階段所設定的目標 KPI？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2"/>
                </a:solidFill>
              </a:rPr>
              <a:t>評分標準</a:t>
            </a:r>
            <a:r>
              <a:rPr b="1" lang="ja">
                <a:solidFill>
                  <a:schemeClr val="dk2"/>
                </a:solidFill>
              </a:rPr>
              <a:t> (Phase 2)  </a:t>
            </a:r>
            <a:r>
              <a:rPr i="1" lang="ja">
                <a:solidFill>
                  <a:schemeClr val="dk2"/>
                </a:solidFill>
              </a:rPr>
              <a:t>此階段會由 GM 和 C 層級主管以五星制進行評分</a:t>
            </a:r>
            <a:endParaRPr i="1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30% </a:t>
            </a:r>
            <a:r>
              <a:rPr b="1" lang="ja" sz="1200">
                <a:solidFill>
                  <a:schemeClr val="dk2"/>
                </a:solidFill>
              </a:rPr>
              <a:t>實作難易度</a:t>
            </a:r>
            <a:r>
              <a:rPr b="1" lang="ja" sz="1200">
                <a:solidFill>
                  <a:schemeClr val="dk2"/>
                </a:solidFill>
              </a:rPr>
              <a:t> (#respecteveryone)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作品與日常營運的整合有多順暢？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40% </a:t>
            </a:r>
            <a:r>
              <a:rPr b="1" lang="ja" sz="1200">
                <a:solidFill>
                  <a:schemeClr val="dk2"/>
                </a:solidFill>
              </a:rPr>
              <a:t>有效性</a:t>
            </a:r>
            <a:r>
              <a:rPr b="1" lang="ja" sz="1200">
                <a:solidFill>
                  <a:schemeClr val="dk2"/>
                </a:solidFill>
              </a:rPr>
              <a:t> (#focusongoal)</a:t>
            </a:r>
            <a:r>
              <a:rPr lang="ja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作品是否帶來確切影響，並達成目標？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30% </a:t>
            </a:r>
            <a:r>
              <a:rPr b="1" lang="ja" sz="1200">
                <a:solidFill>
                  <a:schemeClr val="dk2"/>
                </a:solidFill>
              </a:rPr>
              <a:t>創意度</a:t>
            </a:r>
            <a:r>
              <a:rPr b="1" lang="ja" sz="1200">
                <a:solidFill>
                  <a:schemeClr val="dk2"/>
                </a:solidFill>
              </a:rPr>
              <a:t> (#breakthenorm)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作品是否為痛點提供了創新或特別的處理方法？</a:t>
            </a:r>
            <a:endParaRPr b="1" sz="1200">
              <a:solidFill>
                <a:schemeClr val="dk2"/>
              </a:solidFill>
            </a:endParaRPr>
          </a:p>
        </p:txBody>
      </p:sp>
      <p:sp>
        <p:nvSpPr>
          <p:cNvPr id="444" name="Google Shape;444;p70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CTO Prize Hackathon 2026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71"/>
          <p:cNvSpPr txBox="1"/>
          <p:nvPr>
            <p:ph idx="1" type="body"/>
          </p:nvPr>
        </p:nvSpPr>
        <p:spPr>
          <a:xfrm>
            <a:off x="459000" y="1313636"/>
            <a:ext cx="3312600" cy="1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2"/>
                </a:solidFill>
              </a:rPr>
              <a:t>決賽獎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b="1" lang="ja" sz="1200">
                <a:solidFill>
                  <a:schemeClr val="dk2"/>
                </a:solidFill>
              </a:rPr>
              <a:t>前三名</a:t>
            </a:r>
            <a:endParaRPr b="1" sz="1200">
              <a:solidFill>
                <a:schemeClr val="dk2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冠軍：</a:t>
            </a:r>
            <a:r>
              <a:rPr b="1" lang="ja" sz="1200">
                <a:solidFill>
                  <a:srgbClr val="FF0000"/>
                </a:solidFill>
              </a:rPr>
              <a:t>¥100,000</a:t>
            </a:r>
            <a:endParaRPr b="1" sz="1200">
              <a:solidFill>
                <a:srgbClr val="FF000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亞軍：</a:t>
            </a:r>
            <a:r>
              <a:rPr b="1" lang="ja" sz="1200">
                <a:solidFill>
                  <a:srgbClr val="FF0000"/>
                </a:solidFill>
              </a:rPr>
              <a:t>¥50,000</a:t>
            </a:r>
            <a:endParaRPr b="1" sz="1200">
              <a:solidFill>
                <a:srgbClr val="FF000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ja" sz="1200">
                <a:solidFill>
                  <a:schemeClr val="dk2"/>
                </a:solidFill>
              </a:rPr>
              <a:t>季軍：</a:t>
            </a:r>
            <a:r>
              <a:rPr b="1" lang="ja" sz="1200">
                <a:solidFill>
                  <a:srgbClr val="FF0000"/>
                </a:solidFill>
              </a:rPr>
              <a:t>¥30,000</a:t>
            </a:r>
            <a:endParaRPr b="1" sz="1200"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b="1" lang="ja" sz="1200">
                <a:solidFill>
                  <a:schemeClr val="dk2"/>
                </a:solidFill>
              </a:rPr>
              <a:t>參加獎</a:t>
            </a:r>
            <a:r>
              <a:rPr lang="ja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lang="ja" sz="1200">
                <a:solidFill>
                  <a:schemeClr val="dk2"/>
                </a:solidFill>
              </a:rPr>
              <a:t>每隊 </a:t>
            </a:r>
            <a:r>
              <a:rPr b="1" lang="ja" sz="1200">
                <a:solidFill>
                  <a:srgbClr val="FF0000"/>
                </a:solidFill>
              </a:rPr>
              <a:t>¥10,000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50" name="Google Shape;450;p71"/>
          <p:cNvSpPr txBox="1"/>
          <p:nvPr>
            <p:ph idx="2" type="subTitle"/>
          </p:nvPr>
        </p:nvSpPr>
        <p:spPr>
          <a:xfrm>
            <a:off x="231000" y="542275"/>
            <a:ext cx="87441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</a:rPr>
              <a:t>Phase 2: </a:t>
            </a:r>
            <a:r>
              <a:rPr lang="ja">
                <a:solidFill>
                  <a:srgbClr val="FF0000"/>
                </a:solidFill>
              </a:rPr>
              <a:t>Jun 17th</a:t>
            </a:r>
            <a:r>
              <a:rPr lang="ja">
                <a:solidFill>
                  <a:schemeClr val="dk1"/>
                </a:solidFill>
              </a:rPr>
              <a:t> Rollout Demo Day -  </a:t>
            </a:r>
            <a:r>
              <a:rPr lang="ja">
                <a:solidFill>
                  <a:schemeClr val="dk1"/>
                </a:solidFill>
              </a:rPr>
              <a:t>最終獎項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51" name="Google Shape;451;p71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CTO Prize Hackathon 2026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452" name="Google Shape;452;p71" title="前三名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993" y="3358964"/>
            <a:ext cx="3214292" cy="1339277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pic>
      <p:sp>
        <p:nvSpPr>
          <p:cNvPr id="453" name="Google Shape;453;p71"/>
          <p:cNvSpPr/>
          <p:nvPr/>
        </p:nvSpPr>
        <p:spPr>
          <a:xfrm>
            <a:off x="540557" y="4533637"/>
            <a:ext cx="930900" cy="3150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71975" lIns="71975" spcFirstLastPara="1" rIns="71975" wrap="square" tIns="71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2">
                <a:solidFill>
                  <a:schemeClr val="lt1"/>
                </a:solidFill>
              </a:rPr>
              <a:t>¥100,000</a:t>
            </a:r>
            <a:endParaRPr b="1" sz="1202">
              <a:solidFill>
                <a:schemeClr val="lt1"/>
              </a:solidFill>
            </a:endParaRPr>
          </a:p>
        </p:txBody>
      </p:sp>
      <p:sp>
        <p:nvSpPr>
          <p:cNvPr id="454" name="Google Shape;454;p71"/>
          <p:cNvSpPr/>
          <p:nvPr/>
        </p:nvSpPr>
        <p:spPr>
          <a:xfrm>
            <a:off x="1600732" y="4533637"/>
            <a:ext cx="930900" cy="3150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>
            <a:noFill/>
          </a:ln>
        </p:spPr>
        <p:txBody>
          <a:bodyPr anchorCtr="0" anchor="ctr" bIns="71975" lIns="71975" spcFirstLastPara="1" rIns="71975" wrap="square" tIns="71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2">
                <a:solidFill>
                  <a:schemeClr val="lt1"/>
                </a:solidFill>
              </a:rPr>
              <a:t>¥50,000</a:t>
            </a:r>
            <a:endParaRPr b="1" sz="1202">
              <a:solidFill>
                <a:schemeClr val="lt1"/>
              </a:solidFill>
            </a:endParaRPr>
          </a:p>
        </p:txBody>
      </p:sp>
      <p:sp>
        <p:nvSpPr>
          <p:cNvPr id="455" name="Google Shape;455;p71"/>
          <p:cNvSpPr/>
          <p:nvPr/>
        </p:nvSpPr>
        <p:spPr>
          <a:xfrm>
            <a:off x="2660926" y="4533637"/>
            <a:ext cx="930900" cy="3150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>
            <a:noFill/>
          </a:ln>
        </p:spPr>
        <p:txBody>
          <a:bodyPr anchorCtr="0" anchor="ctr" bIns="71975" lIns="71975" spcFirstLastPara="1" rIns="71975" wrap="square" tIns="71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2">
                <a:solidFill>
                  <a:schemeClr val="lt1"/>
                </a:solidFill>
              </a:rPr>
              <a:t>¥30,000</a:t>
            </a:r>
            <a:endParaRPr b="1" sz="1202">
              <a:solidFill>
                <a:schemeClr val="lt1"/>
              </a:solidFill>
            </a:endParaRPr>
          </a:p>
        </p:txBody>
      </p:sp>
      <p:sp>
        <p:nvSpPr>
          <p:cNvPr id="456" name="Google Shape;456;p71"/>
          <p:cNvSpPr txBox="1"/>
          <p:nvPr>
            <p:ph idx="1" type="body"/>
          </p:nvPr>
        </p:nvSpPr>
        <p:spPr>
          <a:xfrm>
            <a:off x="4572000" y="1313636"/>
            <a:ext cx="4187100" cy="33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2"/>
                </a:solidFill>
              </a:rPr>
              <a:t>特別獎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b="1" lang="ja" sz="1200">
                <a:solidFill>
                  <a:schemeClr val="dk2"/>
                </a:solidFill>
              </a:rPr>
              <a:t>最佳非產品團隊獎</a:t>
            </a:r>
            <a:r>
              <a:rPr lang="ja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b="1" lang="ja" sz="1200">
                <a:solidFill>
                  <a:srgbClr val="FF0000"/>
                </a:solidFill>
              </a:rPr>
              <a:t>¥20,000</a:t>
            </a:r>
            <a:r>
              <a:rPr lang="ja" sz="1200">
                <a:solidFill>
                  <a:schemeClr val="dk2"/>
                </a:solidFill>
              </a:rPr>
              <a:t>（僅選出一隊）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b="1" lang="ja" sz="1200">
                <a:solidFill>
                  <a:schemeClr val="dk2"/>
                </a:solidFill>
              </a:rPr>
              <a:t>金牌導師獎</a:t>
            </a:r>
            <a:r>
              <a:rPr lang="ja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b="1" lang="ja" sz="1200">
                <a:solidFill>
                  <a:srgbClr val="FF0000"/>
                </a:solidFill>
              </a:rPr>
              <a:t>¥20,000</a:t>
            </a:r>
            <a:r>
              <a:rPr lang="ja" sz="1200">
                <a:solidFill>
                  <a:schemeClr val="dk2"/>
                </a:solidFill>
              </a:rPr>
              <a:t>（僅選出一名）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72"/>
          <p:cNvSpPr txBox="1"/>
          <p:nvPr>
            <p:ph idx="2" type="subTitle"/>
          </p:nvPr>
        </p:nvSpPr>
        <p:spPr>
          <a:xfrm>
            <a:off x="231000" y="542275"/>
            <a:ext cx="87441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創新之路 (Timeline)</a:t>
            </a:r>
            <a:endParaRPr/>
          </a:p>
        </p:txBody>
      </p:sp>
      <p:sp>
        <p:nvSpPr>
          <p:cNvPr id="462" name="Google Shape;462;p72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2"/>
                </a:solidFill>
              </a:rPr>
              <a:t>CTO Prize Hackathon 2026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63" name="Google Shape;463;p72"/>
          <p:cNvSpPr/>
          <p:nvPr/>
        </p:nvSpPr>
        <p:spPr>
          <a:xfrm>
            <a:off x="300813" y="1636075"/>
            <a:ext cx="2615100" cy="19524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72"/>
          <p:cNvSpPr txBox="1"/>
          <p:nvPr/>
        </p:nvSpPr>
        <p:spPr>
          <a:xfrm>
            <a:off x="535800" y="1151300"/>
            <a:ext cx="81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72"/>
          <p:cNvSpPr/>
          <p:nvPr/>
        </p:nvSpPr>
        <p:spPr>
          <a:xfrm>
            <a:off x="286350" y="1151300"/>
            <a:ext cx="5488800" cy="4002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lt1"/>
                </a:solidFill>
              </a:rPr>
              <a:t>Phase 1 (POC)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66" name="Google Shape;466;p72"/>
          <p:cNvSpPr/>
          <p:nvPr/>
        </p:nvSpPr>
        <p:spPr>
          <a:xfrm>
            <a:off x="6468350" y="1151300"/>
            <a:ext cx="2269200" cy="4002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lt1"/>
                </a:solidFill>
              </a:rPr>
              <a:t>Phase 2 (Rollout)</a:t>
            </a:r>
            <a:endParaRPr b="1">
              <a:solidFill>
                <a:schemeClr val="lt1"/>
              </a:solidFill>
            </a:endParaRPr>
          </a:p>
        </p:txBody>
      </p:sp>
      <p:graphicFrame>
        <p:nvGraphicFramePr>
          <p:cNvPr id="467" name="Google Shape;467;p72"/>
          <p:cNvGraphicFramePr/>
          <p:nvPr/>
        </p:nvGraphicFramePr>
        <p:xfrm>
          <a:off x="510587" y="16986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{22A3B9CE-418E-434F-BF71-414BA2EF0C03}</a:tableStyleId>
              </a:tblPr>
              <a:tblGrid>
                <a:gridCol w="2195575"/>
              </a:tblGrid>
              <a:tr h="361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>
                          <a:solidFill>
                            <a:schemeClr val="dk2"/>
                          </a:solidFill>
                        </a:rPr>
                        <a:t>3月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2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chemeClr val="dk2"/>
                          </a:solidFill>
                        </a:rPr>
                        <a:t>Workshop 1 (3/5)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ja" sz="1200">
                          <a:solidFill>
                            <a:schemeClr val="dk2"/>
                          </a:solidFill>
                        </a:rPr>
                        <a:t>AI 自動化工具入門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chemeClr val="dk2"/>
                          </a:solidFill>
                        </a:rPr>
                        <a:t>Workshop 2  (3/12)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ja" sz="1100">
                          <a:solidFill>
                            <a:schemeClr val="dk2"/>
                          </a:solidFill>
                        </a:rPr>
                        <a:t>痛點診斷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68" name="Google Shape;468;p72"/>
          <p:cNvSpPr/>
          <p:nvPr/>
        </p:nvSpPr>
        <p:spPr>
          <a:xfrm>
            <a:off x="3040666" y="3401447"/>
            <a:ext cx="312600" cy="258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72"/>
          <p:cNvSpPr/>
          <p:nvPr/>
        </p:nvSpPr>
        <p:spPr>
          <a:xfrm>
            <a:off x="5976525" y="3401447"/>
            <a:ext cx="312600" cy="258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470" name="Google Shape;470;p72"/>
          <p:cNvGraphicFramePr/>
          <p:nvPr/>
        </p:nvGraphicFramePr>
        <p:xfrm>
          <a:off x="3577962" y="16986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{22A3B9CE-418E-434F-BF71-414BA2EF0C03}</a:tableStyleId>
              </a:tblPr>
              <a:tblGrid>
                <a:gridCol w="2109575"/>
              </a:tblGrid>
              <a:tr h="464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>
                          <a:solidFill>
                            <a:schemeClr val="dk2"/>
                          </a:solidFill>
                        </a:rPr>
                        <a:t>3月末〜4月中旬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0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chemeClr val="dk2"/>
                          </a:solidFill>
                        </a:rPr>
                        <a:t>Workshop 3 (3/19)</a:t>
                      </a:r>
                      <a:r>
                        <a:rPr lang="ja">
                          <a:solidFill>
                            <a:schemeClr val="dk2"/>
                          </a:solidFill>
                        </a:rPr>
                        <a:t> 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ja" sz="1200">
                          <a:solidFill>
                            <a:schemeClr val="dk2"/>
                          </a:solidFill>
                        </a:rPr>
                        <a:t>AI 工具應用進階教學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chemeClr val="dk2"/>
                          </a:solidFill>
                        </a:rPr>
                        <a:t>Workshop 4 (~4/14)</a:t>
                      </a:r>
                      <a:r>
                        <a:rPr lang="ja">
                          <a:solidFill>
                            <a:schemeClr val="dk2"/>
                          </a:solidFill>
                        </a:rPr>
                        <a:t> 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ja" sz="1200">
                          <a:solidFill>
                            <a:schemeClr val="dk2"/>
                          </a:solidFill>
                        </a:rPr>
                        <a:t>POC 原型開發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71" name="Google Shape;471;p72"/>
          <p:cNvGraphicFramePr/>
          <p:nvPr/>
        </p:nvGraphicFramePr>
        <p:xfrm>
          <a:off x="6537837" y="16986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{22A3B9CE-418E-434F-BF71-414BA2EF0C03}</a:tableStyleId>
              </a:tblPr>
              <a:tblGrid>
                <a:gridCol w="2034575"/>
              </a:tblGrid>
              <a:tr h="464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>
                          <a:solidFill>
                            <a:schemeClr val="dk2"/>
                          </a:solidFill>
                        </a:rPr>
                        <a:t>4月末〜6月中旬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0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chemeClr val="dk2"/>
                          </a:solidFill>
                        </a:rPr>
                        <a:t>POC 導入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ja" sz="1200">
                          <a:solidFill>
                            <a:schemeClr val="dk2"/>
                          </a:solidFill>
                        </a:rPr>
                        <a:t>將作品正式導入業務流程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72" name="Google Shape;472;p72"/>
          <p:cNvGraphicFramePr/>
          <p:nvPr/>
        </p:nvGraphicFramePr>
        <p:xfrm>
          <a:off x="3577974" y="36730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{22A3B9CE-418E-434F-BF71-414BA2EF0C03}</a:tableStyleId>
              </a:tblPr>
              <a:tblGrid>
                <a:gridCol w="2034575"/>
              </a:tblGrid>
              <a:tr h="412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>
                          <a:solidFill>
                            <a:schemeClr val="dk2"/>
                          </a:solidFill>
                        </a:rPr>
                        <a:t>4/15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55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rgbClr val="FF0000"/>
                          </a:solidFill>
                        </a:rPr>
                        <a:t>Demo Day 1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 sz="1200">
                          <a:solidFill>
                            <a:schemeClr val="dk2"/>
                          </a:solidFill>
                        </a:rPr>
                        <a:t>分享你的精彩 POC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73" name="Google Shape;473;p72"/>
          <p:cNvGraphicFramePr/>
          <p:nvPr/>
        </p:nvGraphicFramePr>
        <p:xfrm>
          <a:off x="510587" y="36730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{22A3B9CE-418E-434F-BF71-414BA2EF0C03}</a:tableStyleId>
              </a:tblPr>
              <a:tblGrid>
                <a:gridCol w="2195575"/>
              </a:tblGrid>
              <a:tr h="353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>
                          <a:solidFill>
                            <a:schemeClr val="dk2"/>
                          </a:solidFill>
                        </a:rPr>
                        <a:t>〜3/17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2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rgbClr val="FF0000"/>
                          </a:solidFill>
                        </a:rPr>
                        <a:t>CTO Prize報名截止</a:t>
                      </a:r>
                      <a:r>
                        <a:rPr lang="ja">
                          <a:solidFill>
                            <a:schemeClr val="dk2"/>
                          </a:solidFill>
                        </a:rPr>
                        <a:t> 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 sz="1100">
                          <a:solidFill>
                            <a:schemeClr val="dk2"/>
                          </a:solidFill>
                        </a:rPr>
                        <a:t>帶著你的點子來報名吧！</a:t>
                      </a:r>
                      <a:br>
                        <a:rPr b="1" lang="ja" sz="1100">
                          <a:solidFill>
                            <a:schemeClr val="dk2"/>
                          </a:solidFill>
                        </a:rPr>
                      </a:br>
                      <a:r>
                        <a:rPr b="1" lang="ja" sz="1100">
                          <a:solidFill>
                            <a:schemeClr val="dk2"/>
                          </a:solidFill>
                        </a:rPr>
                        <a:t>我們會幫你媒合適合的導師</a:t>
                      </a:r>
                      <a:endParaRPr b="1" sz="11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74" name="Google Shape;474;p72"/>
          <p:cNvGraphicFramePr/>
          <p:nvPr/>
        </p:nvGraphicFramePr>
        <p:xfrm>
          <a:off x="6468349" y="36730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{22A3B9CE-418E-434F-BF71-414BA2EF0C03}</a:tableStyleId>
              </a:tblPr>
              <a:tblGrid>
                <a:gridCol w="2034575"/>
              </a:tblGrid>
              <a:tr h="412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ja">
                          <a:solidFill>
                            <a:schemeClr val="dk2"/>
                          </a:solidFill>
                        </a:rPr>
                        <a:t>6月中旬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55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>
                          <a:solidFill>
                            <a:srgbClr val="FF0000"/>
                          </a:solidFill>
                        </a:rPr>
                        <a:t>Demo Day 2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ja" sz="1200">
                          <a:solidFill>
                            <a:schemeClr val="dk2"/>
                          </a:solidFill>
                        </a:rPr>
                        <a:t>展示最終成果，</a:t>
                      </a:r>
                      <a:br>
                        <a:rPr b="1" lang="ja" sz="1200">
                          <a:solidFill>
                            <a:schemeClr val="dk2"/>
                          </a:solidFill>
                        </a:rPr>
                      </a:br>
                      <a:r>
                        <a:rPr b="1" lang="ja" sz="1200">
                          <a:solidFill>
                            <a:schemeClr val="dk2"/>
                          </a:solidFill>
                        </a:rPr>
                        <a:t>贏取決賽大獎！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73"/>
          <p:cNvSpPr txBox="1"/>
          <p:nvPr>
            <p:ph idx="2" type="subTitle"/>
          </p:nvPr>
        </p:nvSpPr>
        <p:spPr>
          <a:xfrm>
            <a:off x="231000" y="542275"/>
            <a:ext cx="87441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萬全的支援體系</a:t>
            </a:r>
            <a:endParaRPr/>
          </a:p>
        </p:txBody>
      </p:sp>
      <p:sp>
        <p:nvSpPr>
          <p:cNvPr id="480" name="Google Shape;480;p73"/>
          <p:cNvSpPr txBox="1"/>
          <p:nvPr>
            <p:ph idx="1" type="body"/>
          </p:nvPr>
        </p:nvSpPr>
        <p:spPr>
          <a:xfrm>
            <a:off x="220625" y="1175900"/>
            <a:ext cx="8655600" cy="3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2"/>
                </a:solidFill>
                <a:highlight>
                  <a:schemeClr val="lt1"/>
                </a:highlight>
              </a:rPr>
              <a:t>沒有技術背景？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2"/>
                </a:solidFill>
              </a:rPr>
              <a:t>完全沒問題！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2"/>
                </a:solidFill>
                <a:highlight>
                  <a:schemeClr val="lt1"/>
                </a:highlight>
              </a:rPr>
              <a:t>導師會全力協助你：</a:t>
            </a:r>
            <a:endParaRPr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ja" sz="1200">
                <a:solidFill>
                  <a:schemeClr val="dk2"/>
                </a:solidFill>
              </a:rPr>
              <a:t>將業務上的「痛點」轉化為技術「解決方案」</a:t>
            </a:r>
            <a:endParaRPr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ja" sz="1200">
                <a:solidFill>
                  <a:schemeClr val="dk2"/>
                </a:solidFill>
              </a:rPr>
              <a:t>協助環境建置並一步一步帶著你使用 AI 工具</a:t>
            </a:r>
            <a:endParaRPr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ja" sz="1200">
                <a:solidFill>
                  <a:schemeClr val="dk2"/>
                </a:solidFill>
              </a:rPr>
              <a:t>引導你完成一個可實際運作的原型 (POC)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2"/>
                </a:solidFill>
                <a:highlight>
                  <a:schemeClr val="lt1"/>
                </a:highlight>
              </a:rPr>
              <a:t>如何開始你的 AI 之旅？</a:t>
            </a:r>
            <a:endParaRPr sz="12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b="1" lang="ja" sz="1200">
                <a:solidFill>
                  <a:schemeClr val="dk2"/>
                </a:solidFill>
              </a:rPr>
              <a:t>加入 Slack 頻道：</a:t>
            </a:r>
            <a:r>
              <a:rPr b="1" lang="ja" sz="1600">
                <a:solidFill>
                  <a:srgbClr val="FF0000"/>
                </a:solidFill>
              </a:rPr>
              <a:t>#cto-prize-help</a:t>
            </a:r>
            <a:r>
              <a:rPr lang="ja" sz="1200">
                <a:solidFill>
                  <a:schemeClr val="dk2"/>
                </a:solidFill>
              </a:rPr>
              <a:t> ，這裡是所有資訊與組隊抱團的小天地。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600">
                <a:solidFill>
                  <a:srgbClr val="FF0000"/>
                </a:solidFill>
              </a:rPr>
              <a:t>+1</a:t>
            </a:r>
            <a:r>
              <a:rPr b="1" lang="ja" sz="1200">
                <a:solidFill>
                  <a:schemeClr val="dk2"/>
                </a:solidFill>
              </a:rPr>
              <a:t> 參加 Workshops 1 &amp; 2：</a:t>
            </a:r>
            <a:r>
              <a:rPr lang="ja" sz="1200">
                <a:solidFill>
                  <a:schemeClr val="dk2"/>
                </a:solidFill>
              </a:rPr>
              <a:t>歡迎所有夥伴來學習可以幫助日常工作的 AI 工具！</a:t>
            </a:r>
            <a:endParaRPr sz="12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b="1" lang="ja" sz="1200">
                <a:solidFill>
                  <a:schemeClr val="dk2"/>
                </a:solidFill>
              </a:rPr>
              <a:t>提出痛點並參加 CTO Prize Hackathon：</a:t>
            </a:r>
            <a:r>
              <a:rPr lang="ja" sz="1200">
                <a:solidFill>
                  <a:schemeClr val="dk2"/>
                </a:solidFill>
              </a:rPr>
              <a:t>如果有想解決的問題但還沒想到方案？也歡迎在頻道中分享！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81" name="Google Shape;481;p73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2"/>
                </a:solidFill>
              </a:rPr>
              <a:t>CTO Prize Hackathon 2026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74"/>
          <p:cNvSpPr txBox="1"/>
          <p:nvPr>
            <p:ph idx="2" type="subTitle"/>
          </p:nvPr>
        </p:nvSpPr>
        <p:spPr>
          <a:xfrm>
            <a:off x="231000" y="542275"/>
            <a:ext cx="8744100" cy="5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常見問題</a:t>
            </a:r>
            <a:endParaRPr/>
          </a:p>
        </p:txBody>
      </p:sp>
      <p:sp>
        <p:nvSpPr>
          <p:cNvPr id="487" name="Google Shape;487;p74"/>
          <p:cNvSpPr txBox="1"/>
          <p:nvPr>
            <p:ph idx="1" type="body"/>
          </p:nvPr>
        </p:nvSpPr>
        <p:spPr>
          <a:xfrm>
            <a:off x="220625" y="1162096"/>
            <a:ext cx="8655600" cy="39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2"/>
                </a:solidFill>
                <a:highlight>
                  <a:schemeClr val="lt1"/>
                </a:highlight>
              </a:rPr>
              <a:t>如果還沒決定要解決什麼痛點，可以參加 Workshop 嗎？</a:t>
            </a:r>
            <a:endParaRPr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ja" sz="1200">
                <a:solidFill>
                  <a:schemeClr val="dk2"/>
                </a:solidFill>
              </a:rPr>
              <a:t>當然可以，超級歡迎！</a:t>
            </a:r>
            <a:endParaRPr sz="1200"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b="1" lang="ja" sz="1200">
                <a:solidFill>
                  <a:srgbClr val="FF0000"/>
                </a:solidFill>
              </a:rPr>
              <a:t>Workshop 1 - AI 自動化工具入門</a:t>
            </a:r>
            <a:r>
              <a:rPr lang="ja" sz="1200">
                <a:solidFill>
                  <a:schemeClr val="dk2"/>
                </a:solidFill>
              </a:rPr>
              <a:t>是開放所有夥伴參加的 AI 工具入門講座。 </a:t>
            </a:r>
            <a:endParaRPr sz="1200"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b="1" lang="ja" sz="1200">
                <a:solidFill>
                  <a:srgbClr val="FF0000"/>
                </a:solidFill>
              </a:rPr>
              <a:t>Workshop 2 - AMA 痛點診斷</a:t>
            </a:r>
            <a:r>
              <a:rPr lang="ja" sz="1200">
                <a:solidFill>
                  <a:schemeClr val="dk2"/>
                </a:solidFill>
              </a:rPr>
              <a:t>則是可以帶著自己的痛點，來和 Mentor 們討論如何用 AI 發想出解決方案。</a:t>
            </a:r>
            <a:endParaRPr sz="1200">
              <a:solidFill>
                <a:schemeClr val="dk2"/>
              </a:solidFill>
            </a:endParaRPr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</a:pPr>
            <a:r>
              <a:rPr b="1" lang="ja" sz="1200">
                <a:solidFill>
                  <a:schemeClr val="dk2"/>
                </a:solidFill>
              </a:rPr>
              <a:t>歡迎提前私訊 </a:t>
            </a:r>
            <a:r>
              <a:rPr b="1" lang="ja" sz="12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@Ian Cheng</a:t>
            </a:r>
            <a:r>
              <a:rPr b="1" lang="ja" sz="1200">
                <a:solidFill>
                  <a:schemeClr val="dk2"/>
                </a:solidFill>
              </a:rPr>
              <a:t> 分享自己在工作上遇到的痛點，讓我們能事先準備呦！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b="1" lang="ja" sz="1200">
                <a:solidFill>
                  <a:srgbClr val="FF0000"/>
                </a:solidFill>
              </a:rPr>
              <a:t>以上兩次 Workshop 開放 17LIVE 全體正職員工參加呦！</a:t>
            </a:r>
            <a:br>
              <a:rPr b="1" lang="ja" sz="1200">
                <a:solidFill>
                  <a:srgbClr val="FF0000"/>
                </a:solidFill>
              </a:rPr>
            </a:br>
            <a:r>
              <a:rPr lang="ja" sz="1200">
                <a:solidFill>
                  <a:schemeClr val="dk2"/>
                </a:solidFill>
              </a:rPr>
              <a:t>如果想參加這兩次的 Workshop，請速速到</a:t>
            </a:r>
            <a:r>
              <a:rPr lang="ja" sz="1200" u="sng">
                <a:solidFill>
                  <a:schemeClr val="hlink"/>
                </a:solidFill>
                <a:hlinkClick r:id="rId4"/>
              </a:rPr>
              <a:t>這則公告</a:t>
            </a:r>
            <a:r>
              <a:rPr lang="ja" sz="1200">
                <a:solidFill>
                  <a:schemeClr val="dk2"/>
                </a:solidFill>
              </a:rPr>
              <a:t>下方按下 </a:t>
            </a:r>
            <a:r>
              <a:rPr b="1" lang="ja" sz="1600">
                <a:solidFill>
                  <a:srgbClr val="FF0000"/>
                </a:solidFill>
              </a:rPr>
              <a:t>+1 </a:t>
            </a:r>
            <a:r>
              <a:rPr lang="ja" sz="1200">
                <a:solidFill>
                  <a:schemeClr val="dk2"/>
                </a:solidFill>
              </a:rPr>
              <a:t>報名，也別忘了加入頻道。</a:t>
            </a:r>
            <a:endParaRPr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ja" sz="1200">
                <a:solidFill>
                  <a:schemeClr val="dk2"/>
                </a:solidFill>
              </a:rPr>
              <a:t>參加了 </a:t>
            </a:r>
            <a:r>
              <a:rPr b="1" lang="ja" sz="1200">
                <a:solidFill>
                  <a:schemeClr val="dk2"/>
                </a:solidFill>
              </a:rPr>
              <a:t>Workshop 1&amp;2 </a:t>
            </a:r>
            <a:r>
              <a:rPr lang="ja" sz="1200">
                <a:solidFill>
                  <a:schemeClr val="dk2"/>
                </a:solidFill>
              </a:rPr>
              <a:t>以後，相信一定能從中獲得啟發，找到想在 </a:t>
            </a:r>
            <a:r>
              <a:rPr b="1" lang="ja" sz="1200">
                <a:solidFill>
                  <a:schemeClr val="dk2"/>
                </a:solidFill>
              </a:rPr>
              <a:t>CTO Prize Hackathon</a:t>
            </a:r>
            <a:r>
              <a:rPr lang="ja" sz="1200">
                <a:solidFill>
                  <a:schemeClr val="dk2"/>
                </a:solidFill>
              </a:rPr>
              <a:t> 中挑戰的課題。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※ </a:t>
            </a:r>
            <a:r>
              <a:rPr b="1" lang="ja" sz="1100">
                <a:solidFill>
                  <a:schemeClr val="dk2"/>
                </a:solidFill>
              </a:rPr>
              <a:t>Workshops 3&amp;4</a:t>
            </a:r>
            <a:r>
              <a:rPr lang="ja" sz="1100">
                <a:solidFill>
                  <a:schemeClr val="dk2"/>
                </a:solidFill>
              </a:rPr>
              <a:t> </a:t>
            </a:r>
            <a:r>
              <a:rPr lang="ja" sz="1100">
                <a:solidFill>
                  <a:schemeClr val="dk2"/>
                </a:solidFill>
              </a:rPr>
              <a:t>僅限</a:t>
            </a:r>
            <a:r>
              <a:rPr b="1" lang="ja" sz="1100">
                <a:solidFill>
                  <a:schemeClr val="dk2"/>
                </a:solidFill>
              </a:rPr>
              <a:t>正式完成 CTO Prize Hackathon 報名的參賽隊伍參加</a:t>
            </a:r>
            <a:r>
              <a:rPr lang="ja" sz="1100">
                <a:solidFill>
                  <a:schemeClr val="dk2"/>
                </a:solidFill>
              </a:rPr>
              <a:t>。趕快組隊報名，一起動手解決實際業務上的痛點吧！ 🚀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2"/>
                </a:solidFill>
                <a:highlight>
                  <a:schemeClr val="lt1"/>
                </a:highlight>
              </a:rPr>
              <a:t>Workshop 是採線上還是實體形式舉辦？會有錄影嗎？</a:t>
            </a:r>
            <a:endParaRPr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b="1" lang="ja" sz="1100">
                <a:solidFill>
                  <a:schemeClr val="dk2"/>
                </a:solidFill>
              </a:rPr>
              <a:t>Workshops 1、2、3 </a:t>
            </a:r>
            <a:r>
              <a:rPr lang="ja" sz="1100">
                <a:solidFill>
                  <a:schemeClr val="dk2"/>
                </a:solidFill>
              </a:rPr>
              <a:t>皆採線上舉行，日後會提供錄影，方便大家複習或補看。</a:t>
            </a:r>
            <a:endParaRPr sz="11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b="1" lang="ja" sz="1100">
                <a:solidFill>
                  <a:schemeClr val="dk2"/>
                </a:solidFill>
              </a:rPr>
              <a:t>Workshop 4 – 導師實作支援</a:t>
            </a:r>
            <a:r>
              <a:rPr lang="ja" sz="1100">
                <a:solidFill>
                  <a:schemeClr val="dk2"/>
                </a:solidFill>
              </a:rPr>
              <a:t>由於涉及各隊的具體開發，會由各參賽團隊與專屬導師自行討論，彈性決定溝通的形式與頻率。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488" name="Google Shape;488;p74"/>
          <p:cNvSpPr txBox="1"/>
          <p:nvPr>
            <p:ph idx="3" type="subTitle"/>
          </p:nvPr>
        </p:nvSpPr>
        <p:spPr>
          <a:xfrm>
            <a:off x="0" y="-4350"/>
            <a:ext cx="7684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2"/>
                </a:solidFill>
              </a:rPr>
              <a:t>CTO Prize Hackathon 2026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94" name="Google Shape;494;p75"/>
          <p:cNvSpPr txBox="1"/>
          <p:nvPr>
            <p:ph idx="1" type="subTitle"/>
          </p:nvPr>
        </p:nvSpPr>
        <p:spPr>
          <a:xfrm>
            <a:off x="3931725" y="2317800"/>
            <a:ext cx="4929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000"/>
              <a:t>Thank you</a:t>
            </a:r>
            <a:endParaRPr i="1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